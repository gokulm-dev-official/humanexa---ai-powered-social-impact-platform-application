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jpg" ContentType="image/jpg"/>
  <Override PartName="/ppt/media/image4.jpg" ContentType="image/jpg"/>
  <Override PartName="/ppt/media/image5.jpg" ContentType="image/jpg"/>
  <Override PartName="/ppt/media/image6.jpg" ContentType="image/jpg"/>
  <Override PartName="/ppt/media/image7.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6" r:id="rId11"/>
    <p:sldId id="267" r:id="rId12"/>
    <p:sldId id="269" r:id="rId13"/>
    <p:sldId id="270" r:id="rId14"/>
    <p:sldId id="271" r:id="rId15"/>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p:cViewPr varScale="1">
        <p:scale>
          <a:sx n="64" d="100"/>
          <a:sy n="64" d="100"/>
        </p:scale>
        <p:origin x="67"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EB165C-AD87-4F52-9CB9-0C717C73DDFC}" type="datetimeFigureOut">
              <a:rPr lang="en-IN" smtClean="0"/>
              <a:t>22-05-2025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1B4AEF-1E66-46E6-91BB-0DC67D28C500}" type="slidenum">
              <a:rPr lang="en-IN" smtClean="0"/>
              <a:t>‹#›</a:t>
            </a:fld>
            <a:endParaRPr lang="en-IN"/>
          </a:p>
        </p:txBody>
      </p:sp>
    </p:spTree>
    <p:extLst>
      <p:ext uri="{BB962C8B-B14F-4D97-AF65-F5344CB8AC3E}">
        <p14:creationId xmlns:p14="http://schemas.microsoft.com/office/powerpoint/2010/main" val="3302578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1B4AEF-1E66-46E6-91BB-0DC67D28C500}" type="slidenum">
              <a:rPr lang="en-IN" smtClean="0"/>
              <a:t>1</a:t>
            </a:fld>
            <a:endParaRPr lang="en-IN"/>
          </a:p>
        </p:txBody>
      </p:sp>
    </p:spTree>
    <p:extLst>
      <p:ext uri="{BB962C8B-B14F-4D97-AF65-F5344CB8AC3E}">
        <p14:creationId xmlns:p14="http://schemas.microsoft.com/office/powerpoint/2010/main" val="3757688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C41003-4298-4C5A-BC57-D11A8995ABF5}"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C41003-4298-4C5A-BC57-D11A8995ABF5}"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C41003-4298-4C5A-BC57-D11A8995ABF5}"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41003-4298-4C5A-BC57-D11A8995ABF5}" type="datetimeFigureOut">
              <a:rPr lang="en-US" smtClean="0"/>
              <a:t>5/22/2025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2B101A-6D2E-4726-B4E4-560DE21F038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acy.io/" TargetMode="External"/><Relationship Id="rId3" Type="http://schemas.openxmlformats.org/officeDocument/2006/relationships/hyperlink" Target="https://pymupdf.readthedocs.io/" TargetMode="External"/><Relationship Id="rId4" Type="http://schemas.openxmlformats.org/officeDocument/2006/relationships/hyperlink" Target="https://www.nltk.org/" TargetMode="External"/><Relationship Id="rId5" Type="http://schemas.openxmlformats.org/officeDocument/2006/relationships/hyperlink" Target="https://flask.palletsproject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g"/><Relationship Id="rId3" Type="http://schemas.openxmlformats.org/officeDocument/2006/relationships/image" Target="../media/image1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523999"/>
          </a:xfrm>
        </p:spPr>
        <p:txBody>
          <a:bodyPr>
            <a:normAutofit fontScale="90000"/>
          </a:bodyPr>
          <a:lstStyle/>
          <a:p>
            <a:r>
              <a:rPr lang="en-US" sz="4000" dirty="0"/>
              <a:t>Excel Engineering College</a:t>
            </a:r>
            <a:br>
              <a:rPr lang="en-US" dirty="0"/>
            </a:br>
            <a:r>
              <a:rPr lang="en-US" sz="2000" dirty="0"/>
              <a:t>(Autonomous)</a:t>
            </a:r>
            <a:br>
              <a:rPr lang="en-US" sz="2000" dirty="0"/>
            </a:br>
            <a:r>
              <a:rPr lang="en-US" sz="2000" dirty="0" err="1"/>
              <a:t>Komarapalayam</a:t>
            </a:r>
            <a:r>
              <a:rPr lang="en-US" sz="2000" dirty="0"/>
              <a:t> – 637 303</a:t>
            </a:r>
            <a:br>
              <a:rPr lang="en-US" dirty="0"/>
            </a:br>
            <a:r>
              <a:rPr lang="en-US" sz="2700" dirty="0"/>
              <a:t>Department of Artificial Intelligence and Data Science</a:t>
            </a:r>
          </a:p>
        </p:txBody>
      </p:sp>
      <p:sp>
        <p:nvSpPr>
          <p:cNvPr id="3" name="Subtitle 2"/>
          <p:cNvSpPr>
            <a:spLocks noGrp="1"/>
          </p:cNvSpPr>
          <p:nvPr>
            <p:ph type="subTitle" idx="1"/>
          </p:nvPr>
        </p:nvSpPr>
        <p:spPr>
          <a:xfrm>
            <a:off x="161924" y="1975102"/>
            <a:ext cx="8829675" cy="4882897"/>
          </a:xfrm>
        </p:spPr>
        <p:txBody>
          <a:bodyPr>
            <a:normAutofit/>
          </a:bodyPr>
          <a:lstStyle/>
          <a:p>
            <a:r>
              <a:rPr lang="en-US" sz="4000" spc="-315" dirty="0">
                <a:solidFill>
                  <a:srgbClr val="333334"/>
                </a:solidFill>
                <a:cs typeface="Times New Roman" panose="02020603050405020304" pitchFamily="18" charset="0"/>
              </a:rPr>
              <a:t>AI-</a:t>
            </a:r>
            <a:r>
              <a:rPr lang="en-US" sz="4000" spc="-520" dirty="0">
                <a:solidFill>
                  <a:srgbClr val="333334"/>
                </a:solidFill>
                <a:cs typeface="Times New Roman" panose="02020603050405020304" pitchFamily="18" charset="0"/>
              </a:rPr>
              <a:t>Based</a:t>
            </a:r>
            <a:r>
              <a:rPr lang="en-US" sz="4000" spc="-335" dirty="0">
                <a:solidFill>
                  <a:srgbClr val="333334"/>
                </a:solidFill>
                <a:cs typeface="Times New Roman" panose="02020603050405020304" pitchFamily="18" charset="0"/>
              </a:rPr>
              <a:t> </a:t>
            </a:r>
            <a:r>
              <a:rPr lang="en-US" sz="4000" spc="-445" dirty="0">
                <a:solidFill>
                  <a:srgbClr val="333334"/>
                </a:solidFill>
                <a:cs typeface="Times New Roman" panose="02020603050405020304" pitchFamily="18" charset="0"/>
              </a:rPr>
              <a:t>Resume</a:t>
            </a:r>
            <a:r>
              <a:rPr lang="en-US" sz="4000" spc="-330" dirty="0">
                <a:solidFill>
                  <a:srgbClr val="333334"/>
                </a:solidFill>
                <a:cs typeface="Times New Roman" panose="02020603050405020304" pitchFamily="18" charset="0"/>
              </a:rPr>
              <a:t> </a:t>
            </a:r>
            <a:r>
              <a:rPr lang="en-US" sz="4000" spc="-345" dirty="0">
                <a:solidFill>
                  <a:srgbClr val="333334"/>
                </a:solidFill>
                <a:cs typeface="Times New Roman" panose="02020603050405020304" pitchFamily="18" charset="0"/>
              </a:rPr>
              <a:t>Detection and</a:t>
            </a:r>
            <a:r>
              <a:rPr lang="en-US" sz="4000" spc="-335" dirty="0">
                <a:solidFill>
                  <a:srgbClr val="333334"/>
                </a:solidFill>
                <a:cs typeface="Times New Roman" panose="02020603050405020304" pitchFamily="18" charset="0"/>
              </a:rPr>
              <a:t> </a:t>
            </a:r>
            <a:r>
              <a:rPr lang="en-US" sz="4000" spc="-400" dirty="0">
                <a:solidFill>
                  <a:srgbClr val="333334"/>
                </a:solidFill>
                <a:cs typeface="Times New Roman" panose="02020603050405020304" pitchFamily="18" charset="0"/>
              </a:rPr>
              <a:t>Analysis System</a:t>
            </a:r>
          </a:p>
          <a:p>
            <a:r>
              <a:rPr lang="en-US" sz="2000" dirty="0">
                <a:solidFill>
                  <a:schemeClr val="tx1"/>
                </a:solidFill>
              </a:rPr>
              <a:t>Presented by</a:t>
            </a:r>
          </a:p>
          <a:p>
            <a:r>
              <a:rPr lang="en-US" sz="2800" dirty="0">
                <a:solidFill>
                  <a:schemeClr val="tx1"/>
                </a:solidFill>
                <a:latin typeface="Times New Roman" panose="02020603050405020304" pitchFamily="18" charset="0"/>
                <a:cs typeface="Times New Roman" panose="02020603050405020304" pitchFamily="18" charset="0"/>
              </a:rPr>
              <a:t>Priya Kumari                 (730922201087)</a:t>
            </a:r>
          </a:p>
          <a:p>
            <a:r>
              <a:rPr lang="en-US" sz="2800" dirty="0">
                <a:solidFill>
                  <a:schemeClr val="tx1"/>
                </a:solidFill>
                <a:latin typeface="Times New Roman" panose="02020603050405020304" pitchFamily="18" charset="0"/>
                <a:cs typeface="Times New Roman" panose="02020603050405020304" pitchFamily="18" charset="0"/>
              </a:rPr>
              <a:t>Santhosh M R                (730922201099)</a:t>
            </a:r>
          </a:p>
          <a:p>
            <a:r>
              <a:rPr lang="en-US" sz="2800" dirty="0">
                <a:solidFill>
                  <a:schemeClr val="tx1"/>
                </a:solidFill>
                <a:latin typeface="Times New Roman" panose="02020603050405020304" pitchFamily="18" charset="0"/>
                <a:cs typeface="Times New Roman" panose="02020603050405020304" pitchFamily="18" charset="0"/>
              </a:rPr>
              <a:t>Manivannan M              (730922201306)</a:t>
            </a:r>
          </a:p>
          <a:p>
            <a:r>
              <a:rPr lang="en-US" sz="2800" dirty="0">
                <a:solidFill>
                  <a:schemeClr val="tx1"/>
                </a:solidFill>
                <a:latin typeface="Times New Roman" panose="02020603050405020304" pitchFamily="18" charset="0"/>
                <a:cs typeface="Times New Roman" panose="02020603050405020304" pitchFamily="18" charset="0"/>
              </a:rPr>
              <a:t>Raja S                            (730922201308)</a:t>
            </a:r>
            <a:endParaRPr lang="en-US"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Under the Guidance of</a:t>
            </a:r>
          </a:p>
          <a:p>
            <a:r>
              <a:rPr lang="pt-BR" sz="2800" spc="-110" dirty="0">
                <a:solidFill>
                  <a:srgbClr val="333334"/>
                </a:solidFill>
                <a:latin typeface="Times New Roman" panose="02020603050405020304" pitchFamily="18" charset="0"/>
                <a:cs typeface="Times New Roman" panose="02020603050405020304" pitchFamily="18" charset="0"/>
              </a:rPr>
              <a:t>Ms.</a:t>
            </a:r>
            <a:r>
              <a:rPr lang="pt-BR" sz="2800" spc="-125" dirty="0">
                <a:solidFill>
                  <a:srgbClr val="333334"/>
                </a:solidFill>
                <a:latin typeface="Times New Roman" panose="02020603050405020304" pitchFamily="18" charset="0"/>
                <a:cs typeface="Times New Roman" panose="02020603050405020304" pitchFamily="18" charset="0"/>
              </a:rPr>
              <a:t> </a:t>
            </a:r>
            <a:r>
              <a:rPr lang="pt-BR" sz="2800" spc="-440" dirty="0">
                <a:solidFill>
                  <a:srgbClr val="333334"/>
                </a:solidFill>
                <a:latin typeface="Times New Roman" panose="02020603050405020304" pitchFamily="18" charset="0"/>
                <a:cs typeface="Times New Roman" panose="02020603050405020304" pitchFamily="18" charset="0"/>
              </a:rPr>
              <a:t>S</a:t>
            </a:r>
            <a:r>
              <a:rPr lang="pt-BR" sz="2800" spc="-125" dirty="0">
                <a:solidFill>
                  <a:srgbClr val="333334"/>
                </a:solidFill>
                <a:latin typeface="Times New Roman" panose="02020603050405020304" pitchFamily="18" charset="0"/>
                <a:cs typeface="Times New Roman" panose="02020603050405020304" pitchFamily="18" charset="0"/>
              </a:rPr>
              <a:t>.</a:t>
            </a:r>
            <a:r>
              <a:rPr lang="pt-BR" sz="2800" dirty="0">
                <a:solidFill>
                  <a:srgbClr val="333334"/>
                </a:solidFill>
                <a:latin typeface="Times New Roman" panose="02020603050405020304" pitchFamily="18" charset="0"/>
                <a:cs typeface="Times New Roman" panose="02020603050405020304" pitchFamily="18" charset="0"/>
              </a:rPr>
              <a:t>Manju</a:t>
            </a:r>
            <a:r>
              <a:rPr lang="pt-BR" sz="2800" spc="-195" dirty="0">
                <a:solidFill>
                  <a:srgbClr val="333334"/>
                </a:solidFill>
                <a:latin typeface="Times New Roman" panose="02020603050405020304" pitchFamily="18" charset="0"/>
                <a:cs typeface="Times New Roman" panose="02020603050405020304" pitchFamily="18" charset="0"/>
              </a:rPr>
              <a:t> </a:t>
            </a:r>
            <a:r>
              <a:rPr lang="pt-BR" sz="2800" spc="-50" dirty="0">
                <a:solidFill>
                  <a:srgbClr val="333334"/>
                </a:solidFill>
                <a:latin typeface="Times New Roman" panose="02020603050405020304" pitchFamily="18" charset="0"/>
                <a:cs typeface="Times New Roman" panose="02020603050405020304" pitchFamily="18" charset="0"/>
              </a:rPr>
              <a:t>vidhya, B.E,</a:t>
            </a:r>
            <a:r>
              <a:rPr lang="pt-BR" sz="2800" spc="-135" dirty="0">
                <a:solidFill>
                  <a:srgbClr val="333334"/>
                </a:solidFill>
                <a:latin typeface="Times New Roman" panose="02020603050405020304" pitchFamily="18" charset="0"/>
                <a:cs typeface="Times New Roman" panose="02020603050405020304" pitchFamily="18" charset="0"/>
              </a:rPr>
              <a:t>M.E.,</a:t>
            </a:r>
            <a:r>
              <a:rPr lang="pt-BR" sz="2800" spc="-90" dirty="0">
                <a:solidFill>
                  <a:srgbClr val="333334"/>
                </a:solidFill>
                <a:latin typeface="Times New Roman" panose="02020603050405020304" pitchFamily="18" charset="0"/>
                <a:cs typeface="Times New Roman" panose="02020603050405020304" pitchFamily="18" charset="0"/>
              </a:rPr>
              <a:t> </a:t>
            </a:r>
          </a:p>
          <a:p>
            <a:r>
              <a:rPr lang="en-US" sz="2800" dirty="0">
                <a:solidFill>
                  <a:schemeClr val="tx1"/>
                </a:solidFill>
              </a:rPr>
              <a:t>Assistant Professor </a:t>
            </a:r>
          </a:p>
          <a:p>
            <a:endParaRPr lang="en-US" dirty="0"/>
          </a:p>
        </p:txBody>
      </p:sp>
      <p:pic>
        <p:nvPicPr>
          <p:cNvPr id="4" name="Picture 3" descr="Excel Group Institutions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6200" y="533400"/>
            <a:ext cx="741045" cy="847725"/>
          </a:xfrm>
          <a:prstGeom prst="rect">
            <a:avLst/>
          </a:prstGeom>
          <a:noFill/>
          <a:ln>
            <a:noFill/>
          </a:ln>
        </p:spPr>
      </p:pic>
      <p:pic>
        <p:nvPicPr>
          <p:cNvPr id="5" name="Picture 4" descr="C:\Users\Administrator\Desktop\AU.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 y="457200"/>
            <a:ext cx="851511" cy="847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Agenda</a:t>
            </a:r>
          </a:p>
        </p:txBody>
      </p:sp>
      <p:sp>
        <p:nvSpPr>
          <p:cNvPr id="3" name="Content Placeholder 2"/>
          <p:cNvSpPr>
            <a:spLocks noGrp="1"/>
          </p:cNvSpPr>
          <p:nvPr>
            <p:ph idx="1"/>
          </p:nvPr>
        </p:nvSpPr>
        <p:spPr>
          <a:xfrm>
            <a:off x="457200" y="1219200"/>
            <a:ext cx="8229600" cy="5334000"/>
          </a:xfrm>
        </p:spPr>
        <p:txBody>
          <a:bodyPr>
            <a:normAutofit fontScale="77500" lnSpcReduction="20000"/>
          </a:bodyPr>
          <a:lstStyle/>
          <a:p>
            <a:r>
              <a:rPr lang="en-US" dirty="0"/>
              <a:t>Abstract</a:t>
            </a:r>
          </a:p>
          <a:p>
            <a:r>
              <a:rPr lang="en-US" dirty="0"/>
              <a:t>Objectives</a:t>
            </a:r>
          </a:p>
          <a:p>
            <a:r>
              <a:rPr lang="en-US" dirty="0"/>
              <a:t>Problem Statement</a:t>
            </a:r>
          </a:p>
          <a:p>
            <a:r>
              <a:rPr lang="en-US" dirty="0"/>
              <a:t>Existing System</a:t>
            </a:r>
          </a:p>
          <a:p>
            <a:r>
              <a:rPr lang="en-US" dirty="0"/>
              <a:t>Proposed System</a:t>
            </a:r>
          </a:p>
          <a:p>
            <a:r>
              <a:rPr lang="en-US" dirty="0"/>
              <a:t>Software used</a:t>
            </a:r>
          </a:p>
          <a:p>
            <a:r>
              <a:rPr lang="en-US" dirty="0"/>
              <a:t>Architecture / Methodology Used</a:t>
            </a:r>
          </a:p>
          <a:p>
            <a:r>
              <a:rPr lang="en-US" dirty="0"/>
              <a:t>System Design/flow chart /DFD/ER/Use cases</a:t>
            </a:r>
          </a:p>
          <a:p>
            <a:r>
              <a:rPr lang="en-US" dirty="0"/>
              <a:t>Modules</a:t>
            </a:r>
          </a:p>
          <a:p>
            <a:r>
              <a:rPr lang="en-US" dirty="0"/>
              <a:t>Testing/Performance Evaluation /Results</a:t>
            </a:r>
          </a:p>
          <a:p>
            <a:r>
              <a:rPr lang="en-US" dirty="0"/>
              <a:t>Conclusion and Future Enhancements</a:t>
            </a:r>
          </a:p>
          <a:p>
            <a:r>
              <a:rPr lang="en-US" dirty="0"/>
              <a:t> Screenshot</a:t>
            </a:r>
          </a:p>
          <a:p>
            <a:r>
              <a:rPr lang="en-US" dirty="0"/>
              <a:t>References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a:xfrm>
            <a:off x="457200" y="1600201"/>
            <a:ext cx="8229600" cy="3886200"/>
          </a:xfrm>
        </p:spPr>
        <p:txBody>
          <a:bodyPr>
            <a:normAutofit fontScale="70000" lnSpcReduction="20000"/>
          </a:bodyPr>
          <a:lstStyle/>
          <a:p>
            <a:pPr marL="0" indent="0" algn="just">
              <a:buNone/>
            </a:pPr>
            <a:r>
              <a:rPr lang="en-US" sz="3200" spc="100" dirty="0">
                <a:solidFill>
                  <a:srgbClr val="333334"/>
                </a:solidFill>
                <a:latin typeface="Times New Roman" panose="02020603050405020304" pitchFamily="18" charset="0"/>
                <a:cs typeface="Times New Roman" panose="02020603050405020304" pitchFamily="18" charset="0"/>
              </a:rPr>
              <a:t>	This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project</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aims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to</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build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55" dirty="0">
                <a:solidFill>
                  <a:srgbClr val="333334"/>
                </a:solidFill>
                <a:latin typeface="Times New Roman" panose="02020603050405020304" pitchFamily="18" charset="0"/>
                <a:cs typeface="Times New Roman" panose="02020603050405020304" pitchFamily="18" charset="0"/>
              </a:rPr>
              <a:t>an</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60" dirty="0">
                <a:solidFill>
                  <a:srgbClr val="333334"/>
                </a:solidFill>
                <a:latin typeface="Times New Roman" panose="02020603050405020304" pitchFamily="18" charset="0"/>
                <a:cs typeface="Times New Roman" panose="02020603050405020304" pitchFamily="18" charset="0"/>
              </a:rPr>
              <a:t>AI-</a:t>
            </a:r>
            <a:r>
              <a:rPr lang="en-US" sz="3200" spc="170" dirty="0">
                <a:solidFill>
                  <a:srgbClr val="333334"/>
                </a:solidFill>
                <a:latin typeface="Times New Roman" panose="02020603050405020304" pitchFamily="18" charset="0"/>
                <a:cs typeface="Times New Roman" panose="02020603050405020304" pitchFamily="18" charset="0"/>
              </a:rPr>
              <a:t>based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system</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that</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automatically reads, extracts, and analyzes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resumes.</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Recruiters </a:t>
            </a:r>
            <a:r>
              <a:rPr lang="en-US" sz="3200" spc="150" dirty="0">
                <a:solidFill>
                  <a:srgbClr val="333334"/>
                </a:solidFill>
                <a:latin typeface="Times New Roman" panose="02020603050405020304" pitchFamily="18" charset="0"/>
                <a:cs typeface="Times New Roman" panose="02020603050405020304" pitchFamily="18" charset="0"/>
              </a:rPr>
              <a:t>often</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14" dirty="0">
                <a:solidFill>
                  <a:srgbClr val="333334"/>
                </a:solidFill>
                <a:latin typeface="Times New Roman" panose="02020603050405020304" pitchFamily="18" charset="0"/>
                <a:cs typeface="Times New Roman" panose="02020603050405020304" pitchFamily="18" charset="0"/>
              </a:rPr>
              <a:t>face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difficulties</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while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checking</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90" dirty="0">
                <a:solidFill>
                  <a:srgbClr val="333334"/>
                </a:solidFill>
                <a:latin typeface="Times New Roman" panose="02020603050405020304" pitchFamily="18" charset="0"/>
                <a:cs typeface="Times New Roman" panose="02020603050405020304" pitchFamily="18" charset="0"/>
              </a:rPr>
              <a:t>hundreds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40" dirty="0">
                <a:solidFill>
                  <a:srgbClr val="333334"/>
                </a:solidFill>
                <a:latin typeface="Times New Roman" panose="02020603050405020304" pitchFamily="18" charset="0"/>
                <a:cs typeface="Times New Roman" panose="02020603050405020304" pitchFamily="18" charset="0"/>
              </a:rPr>
              <a:t>of</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resumes </a:t>
            </a:r>
            <a:r>
              <a:rPr lang="en-US" sz="3200" spc="135" dirty="0">
                <a:solidFill>
                  <a:srgbClr val="333334"/>
                </a:solidFill>
                <a:latin typeface="Times New Roman" panose="02020603050405020304" pitchFamily="18" charset="0"/>
                <a:cs typeface="Times New Roman" panose="02020603050405020304" pitchFamily="18" charset="0"/>
              </a:rPr>
              <a:t>manually.</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204" dirty="0">
                <a:solidFill>
                  <a:srgbClr val="333334"/>
                </a:solidFill>
                <a:latin typeface="Times New Roman" panose="02020603050405020304" pitchFamily="18" charset="0"/>
                <a:cs typeface="Times New Roman" panose="02020603050405020304" pitchFamily="18" charset="0"/>
              </a:rPr>
              <a:t>Our</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system</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solves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this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204" dirty="0">
                <a:solidFill>
                  <a:srgbClr val="333334"/>
                </a:solidFill>
                <a:latin typeface="Times New Roman" panose="02020603050405020304" pitchFamily="18" charset="0"/>
                <a:cs typeface="Times New Roman" panose="02020603050405020304" pitchFamily="18" charset="0"/>
              </a:rPr>
              <a:t>problem</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using</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Artificial </a:t>
            </a:r>
            <a:r>
              <a:rPr lang="en-US" sz="3200" spc="100" dirty="0">
                <a:solidFill>
                  <a:srgbClr val="333334"/>
                </a:solidFill>
                <a:latin typeface="Times New Roman" panose="02020603050405020304" pitchFamily="18" charset="0"/>
                <a:cs typeface="Times New Roman" panose="02020603050405020304" pitchFamily="18" charset="0"/>
              </a:rPr>
              <a:t>Intelligence</a:t>
            </a:r>
            <a:r>
              <a:rPr lang="en-US" sz="3200" spc="-3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25"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Natural</a:t>
            </a:r>
            <a:r>
              <a:rPr lang="en-US" sz="3200" spc="-2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Language</a:t>
            </a:r>
            <a:r>
              <a:rPr lang="en-US" sz="3200" spc="-3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Processing</a:t>
            </a:r>
            <a:r>
              <a:rPr lang="en-US" sz="3200" spc="-25" dirty="0">
                <a:solidFill>
                  <a:srgbClr val="333334"/>
                </a:solidFill>
                <a:latin typeface="Times New Roman" panose="02020603050405020304" pitchFamily="18" charset="0"/>
                <a:cs typeface="Times New Roman" panose="02020603050405020304" pitchFamily="18" charset="0"/>
              </a:rPr>
              <a:t> </a:t>
            </a:r>
            <a:r>
              <a:rPr lang="en-US" sz="3200" dirty="0">
                <a:solidFill>
                  <a:srgbClr val="333334"/>
                </a:solidFill>
                <a:latin typeface="Times New Roman" panose="02020603050405020304" pitchFamily="18" charset="0"/>
                <a:cs typeface="Times New Roman" panose="02020603050405020304" pitchFamily="18" charset="0"/>
              </a:rPr>
              <a:t>(NLP)</a:t>
            </a:r>
            <a:r>
              <a:rPr lang="en-US" sz="3200" spc="-2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to</a:t>
            </a:r>
            <a:r>
              <a:rPr lang="en-US" sz="3200" spc="-3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pick</a:t>
            </a:r>
            <a:r>
              <a:rPr lang="en-US" sz="3200" spc="-25" dirty="0">
                <a:solidFill>
                  <a:srgbClr val="333334"/>
                </a:solidFill>
                <a:latin typeface="Times New Roman" panose="02020603050405020304" pitchFamily="18" charset="0"/>
                <a:cs typeface="Times New Roman" panose="02020603050405020304" pitchFamily="18" charset="0"/>
              </a:rPr>
              <a:t> </a:t>
            </a:r>
            <a:r>
              <a:rPr lang="en-US" sz="3200" spc="140" dirty="0">
                <a:solidFill>
                  <a:srgbClr val="333334"/>
                </a:solidFill>
                <a:latin typeface="Times New Roman" panose="02020603050405020304" pitchFamily="18" charset="0"/>
                <a:cs typeface="Times New Roman" panose="02020603050405020304" pitchFamily="18" charset="0"/>
              </a:rPr>
              <a:t>out </a:t>
            </a:r>
            <a:r>
              <a:rPr lang="en-US" sz="3200" spc="180" dirty="0">
                <a:solidFill>
                  <a:srgbClr val="333334"/>
                </a:solidFill>
                <a:latin typeface="Times New Roman" panose="02020603050405020304" pitchFamily="18" charset="0"/>
                <a:cs typeface="Times New Roman" panose="02020603050405020304" pitchFamily="18" charset="0"/>
              </a:rPr>
              <a:t>important</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details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like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name,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00" dirty="0">
                <a:solidFill>
                  <a:srgbClr val="333334"/>
                </a:solidFill>
                <a:latin typeface="Times New Roman" panose="02020603050405020304" pitchFamily="18" charset="0"/>
                <a:cs typeface="Times New Roman" panose="02020603050405020304" pitchFamily="18" charset="0"/>
              </a:rPr>
              <a:t>contact,</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85" dirty="0">
                <a:solidFill>
                  <a:srgbClr val="333334"/>
                </a:solidFill>
                <a:latin typeface="Times New Roman" panose="02020603050405020304" pitchFamily="18" charset="0"/>
                <a:cs typeface="Times New Roman" panose="02020603050405020304" pitchFamily="18" charset="0"/>
              </a:rPr>
              <a:t>skills,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education,</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work </a:t>
            </a:r>
            <a:r>
              <a:rPr lang="en-US" sz="3200" spc="155" dirty="0">
                <a:solidFill>
                  <a:srgbClr val="333334"/>
                </a:solidFill>
                <a:latin typeface="Times New Roman" panose="02020603050405020304" pitchFamily="18" charset="0"/>
                <a:cs typeface="Times New Roman" panose="02020603050405020304" pitchFamily="18" charset="0"/>
              </a:rPr>
              <a:t>experience</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200" dirty="0">
                <a:solidFill>
                  <a:srgbClr val="333334"/>
                </a:solidFill>
                <a:latin typeface="Times New Roman" panose="02020603050405020304" pitchFamily="18" charset="0"/>
                <a:cs typeface="Times New Roman" panose="02020603050405020304" pitchFamily="18" charset="0"/>
              </a:rPr>
              <a:t>from</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PDF</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resumes.</a:t>
            </a:r>
            <a:r>
              <a:rPr lang="en-US" sz="3200" spc="-60" dirty="0">
                <a:solidFill>
                  <a:srgbClr val="333334"/>
                </a:solidFill>
                <a:latin typeface="Times New Roman" panose="02020603050405020304" pitchFamily="18" charset="0"/>
                <a:cs typeface="Times New Roman" panose="02020603050405020304" pitchFamily="18" charset="0"/>
              </a:rPr>
              <a:t> </a:t>
            </a:r>
            <a:r>
              <a:rPr lang="en-US" sz="3200" dirty="0">
                <a:solidFill>
                  <a:srgbClr val="333334"/>
                </a:solidFill>
                <a:latin typeface="Times New Roman" panose="02020603050405020304" pitchFamily="18" charset="0"/>
                <a:cs typeface="Times New Roman" panose="02020603050405020304" pitchFamily="18" charset="0"/>
              </a:rPr>
              <a:t>It</a:t>
            </a:r>
            <a:r>
              <a:rPr lang="en-US" sz="3200" spc="-60" dirty="0">
                <a:solidFill>
                  <a:srgbClr val="333334"/>
                </a:solidFill>
                <a:latin typeface="Times New Roman" panose="02020603050405020304" pitchFamily="18" charset="0"/>
                <a:cs typeface="Times New Roman" panose="02020603050405020304" pitchFamily="18" charset="0"/>
              </a:rPr>
              <a:t> </a:t>
            </a:r>
            <a:r>
              <a:rPr lang="en-US" sz="3200" spc="160" dirty="0">
                <a:solidFill>
                  <a:srgbClr val="333334"/>
                </a:solidFill>
                <a:latin typeface="Times New Roman" panose="02020603050405020304" pitchFamily="18" charset="0"/>
                <a:cs typeface="Times New Roman" panose="02020603050405020304" pitchFamily="18" charset="0"/>
              </a:rPr>
              <a:t>then</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compares</a:t>
            </a:r>
            <a:r>
              <a:rPr lang="en-US" sz="3200" spc="-6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these</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details </a:t>
            </a:r>
            <a:r>
              <a:rPr lang="en-US" sz="3200" spc="140" dirty="0">
                <a:solidFill>
                  <a:srgbClr val="333334"/>
                </a:solidFill>
                <a:latin typeface="Times New Roman" panose="02020603050405020304" pitchFamily="18" charset="0"/>
                <a:cs typeface="Times New Roman" panose="02020603050405020304" pitchFamily="18" charset="0"/>
              </a:rPr>
              <a:t>with</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job</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requirements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90" dirty="0">
                <a:solidFill>
                  <a:srgbClr val="333334"/>
                </a:solidFill>
                <a:latin typeface="Times New Roman" panose="02020603050405020304" pitchFamily="18" charset="0"/>
                <a:cs typeface="Times New Roman" panose="02020603050405020304" pitchFamily="18" charset="0"/>
              </a:rPr>
              <a:t>gives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05" dirty="0">
                <a:solidFill>
                  <a:srgbClr val="333334"/>
                </a:solidFill>
                <a:latin typeface="Times New Roman" panose="02020603050405020304" pitchFamily="18" charset="0"/>
                <a:cs typeface="Times New Roman" panose="02020603050405020304" pitchFamily="18" charset="0"/>
              </a:rPr>
              <a:t>a</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match</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14" dirty="0">
                <a:solidFill>
                  <a:srgbClr val="333334"/>
                </a:solidFill>
                <a:latin typeface="Times New Roman" panose="02020603050405020304" pitchFamily="18" charset="0"/>
                <a:cs typeface="Times New Roman" panose="02020603050405020304" pitchFamily="18" charset="0"/>
              </a:rPr>
              <a:t>score.</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00" dirty="0">
                <a:solidFill>
                  <a:srgbClr val="333334"/>
                </a:solidFill>
                <a:latin typeface="Times New Roman" panose="02020603050405020304" pitchFamily="18" charset="0"/>
                <a:cs typeface="Times New Roman" panose="02020603050405020304" pitchFamily="18" charset="0"/>
              </a:rPr>
              <a:t>This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helps </a:t>
            </a:r>
            <a:r>
              <a:rPr lang="en-US" sz="3200" spc="175" dirty="0">
                <a:solidFill>
                  <a:srgbClr val="333334"/>
                </a:solidFill>
                <a:latin typeface="Times New Roman" panose="02020603050405020304" pitchFamily="18" charset="0"/>
                <a:cs typeface="Times New Roman" panose="02020603050405020304" pitchFamily="18" charset="0"/>
              </a:rPr>
              <a:t>companies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14" dirty="0">
                <a:solidFill>
                  <a:srgbClr val="333334"/>
                </a:solidFill>
                <a:latin typeface="Times New Roman" panose="02020603050405020304" pitchFamily="18" charset="0"/>
                <a:cs typeface="Times New Roman" panose="02020603050405020304" pitchFamily="18" charset="0"/>
              </a:rPr>
              <a:t>save</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time,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reduce</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210" dirty="0">
                <a:solidFill>
                  <a:srgbClr val="333334"/>
                </a:solidFill>
                <a:latin typeface="Times New Roman" panose="02020603050405020304" pitchFamily="18" charset="0"/>
                <a:cs typeface="Times New Roman" panose="02020603050405020304" pitchFamily="18" charset="0"/>
              </a:rPr>
              <a:t>human</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error,</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choose</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the </a:t>
            </a:r>
            <a:r>
              <a:rPr lang="en-US" sz="3200" spc="145" dirty="0">
                <a:solidFill>
                  <a:srgbClr val="333334"/>
                </a:solidFill>
                <a:latin typeface="Times New Roman" panose="02020603050405020304" pitchFamily="18" charset="0"/>
                <a:cs typeface="Times New Roman" panose="02020603050405020304" pitchFamily="18" charset="0"/>
              </a:rPr>
              <a:t>best</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candidates</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90" dirty="0">
                <a:solidFill>
                  <a:srgbClr val="333334"/>
                </a:solidFill>
                <a:latin typeface="Times New Roman" panose="02020603050405020304" pitchFamily="18" charset="0"/>
                <a:cs typeface="Times New Roman" panose="02020603050405020304" pitchFamily="18" charset="0"/>
              </a:rPr>
              <a:t>easily.</a:t>
            </a:r>
            <a:r>
              <a:rPr lang="en-US" sz="3200" spc="-35" dirty="0">
                <a:solidFill>
                  <a:srgbClr val="333334"/>
                </a:solidFill>
                <a:latin typeface="Times New Roman" panose="02020603050405020304" pitchFamily="18" charset="0"/>
                <a:cs typeface="Times New Roman" panose="02020603050405020304" pitchFamily="18" charset="0"/>
              </a:rPr>
              <a:t> </a:t>
            </a:r>
            <a:r>
              <a:rPr lang="en-US" sz="3200" spc="100" dirty="0">
                <a:solidFill>
                  <a:srgbClr val="333334"/>
                </a:solidFill>
                <a:latin typeface="Times New Roman" panose="02020603050405020304" pitchFamily="18" charset="0"/>
                <a:cs typeface="Times New Roman" panose="02020603050405020304" pitchFamily="18" charset="0"/>
              </a:rPr>
              <a:t>The</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project</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is</a:t>
            </a:r>
            <a:r>
              <a:rPr lang="en-US" sz="3200" spc="-35"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developed</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using</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Python </a:t>
            </a:r>
            <a:r>
              <a:rPr lang="en-US" sz="3200" dirty="0">
                <a:solidFill>
                  <a:srgbClr val="333334"/>
                </a:solidFill>
                <a:latin typeface="Times New Roman" panose="02020603050405020304" pitchFamily="18" charset="0"/>
                <a:cs typeface="Times New Roman" panose="02020603050405020304" pitchFamily="18" charset="0"/>
              </a:rPr>
              <a:t>(Flask),</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HTML,</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dirty="0">
                <a:solidFill>
                  <a:srgbClr val="333334"/>
                </a:solidFill>
                <a:latin typeface="Times New Roman" panose="02020603050405020304" pitchFamily="18" charset="0"/>
                <a:cs typeface="Times New Roman" panose="02020603050405020304" pitchFamily="18" charset="0"/>
              </a:rPr>
              <a:t>CSS,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50" dirty="0">
                <a:solidFill>
                  <a:srgbClr val="333334"/>
                </a:solidFill>
                <a:latin typeface="Times New Roman" panose="02020603050405020304" pitchFamily="18" charset="0"/>
                <a:cs typeface="Times New Roman" panose="02020603050405020304" pitchFamily="18" charset="0"/>
              </a:rPr>
              <a:t>JavaScript,</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supports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database </a:t>
            </a:r>
            <a:r>
              <a:rPr lang="en-US" sz="3200" spc="135" dirty="0">
                <a:solidFill>
                  <a:srgbClr val="333334"/>
                </a:solidFill>
                <a:latin typeface="Times New Roman" panose="02020603050405020304" pitchFamily="18" charset="0"/>
                <a:cs typeface="Times New Roman" panose="02020603050405020304" pitchFamily="18" charset="0"/>
              </a:rPr>
              <a:t>storage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60" dirty="0">
                <a:solidFill>
                  <a:srgbClr val="333334"/>
                </a:solidFill>
                <a:latin typeface="Times New Roman" panose="02020603050405020304" pitchFamily="18" charset="0"/>
                <a:cs typeface="Times New Roman" panose="02020603050405020304" pitchFamily="18" charset="0"/>
              </a:rPr>
              <a:t>for</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55" dirty="0">
                <a:solidFill>
                  <a:srgbClr val="333334"/>
                </a:solidFill>
                <a:latin typeface="Times New Roman" panose="02020603050405020304" pitchFamily="18" charset="0"/>
                <a:cs typeface="Times New Roman" panose="02020603050405020304" pitchFamily="18" charset="0"/>
              </a:rPr>
              <a:t>future</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reference.</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THE PROJECT</a:t>
            </a:r>
          </a:p>
        </p:txBody>
      </p:sp>
      <p:sp>
        <p:nvSpPr>
          <p:cNvPr id="3" name="Content Placeholder 2"/>
          <p:cNvSpPr>
            <a:spLocks noGrp="1"/>
          </p:cNvSpPr>
          <p:nvPr>
            <p:ph idx="1"/>
          </p:nvPr>
        </p:nvSpPr>
        <p:spPr/>
        <p:txBody>
          <a:bodyPr>
            <a:normAutofit/>
          </a:bodyPr>
          <a:lstStyle/>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80"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create</a:t>
            </a:r>
            <a:r>
              <a:rPr lang="en-US" sz="2300" spc="-75" dirty="0">
                <a:latin typeface="Times New Roman" panose="02020603050405020304" pitchFamily="18" charset="0"/>
                <a:cs typeface="Times New Roman" panose="02020603050405020304" pitchFamily="18" charset="0"/>
              </a:rPr>
              <a:t> </a:t>
            </a:r>
            <a:r>
              <a:rPr lang="en-US" sz="2300" spc="95" dirty="0">
                <a:latin typeface="Times New Roman" panose="02020603050405020304" pitchFamily="18" charset="0"/>
                <a:cs typeface="Times New Roman" panose="02020603050405020304" pitchFamily="18" charset="0"/>
              </a:rPr>
              <a:t>a</a:t>
            </a:r>
            <a:r>
              <a:rPr lang="en-US" sz="2300" spc="-75"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system</a:t>
            </a:r>
            <a:r>
              <a:rPr lang="en-US" sz="2300" spc="-75" dirty="0">
                <a:latin typeface="Times New Roman" panose="02020603050405020304" pitchFamily="18" charset="0"/>
                <a:cs typeface="Times New Roman" panose="02020603050405020304" pitchFamily="18" charset="0"/>
              </a:rPr>
              <a:t> </a:t>
            </a:r>
            <a:r>
              <a:rPr lang="en-US" sz="2300" spc="114" dirty="0">
                <a:latin typeface="Times New Roman" panose="02020603050405020304" pitchFamily="18" charset="0"/>
                <a:cs typeface="Times New Roman" panose="02020603050405020304" pitchFamily="18" charset="0"/>
              </a:rPr>
              <a:t>that</a:t>
            </a:r>
            <a:r>
              <a:rPr lang="en-US" sz="2300" spc="-80"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automatically</a:t>
            </a:r>
            <a:r>
              <a:rPr lang="en-US" sz="2300" spc="-75" dirty="0">
                <a:latin typeface="Times New Roman" panose="02020603050405020304" pitchFamily="18" charset="0"/>
                <a:cs typeface="Times New Roman" panose="02020603050405020304" pitchFamily="18" charset="0"/>
              </a:rPr>
              <a:t> </a:t>
            </a:r>
            <a:r>
              <a:rPr lang="en-US" sz="2300" spc="150" dirty="0">
                <a:latin typeface="Times New Roman" panose="02020603050405020304" pitchFamily="18" charset="0"/>
                <a:cs typeface="Times New Roman" panose="02020603050405020304" pitchFamily="18" charset="0"/>
              </a:rPr>
              <a:t>reads</a:t>
            </a:r>
            <a:r>
              <a:rPr lang="en-US" sz="2300" spc="-75"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75"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analyzes</a:t>
            </a:r>
            <a:r>
              <a:rPr lang="en-US" sz="2300" spc="-7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resumes.</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80" dirty="0">
                <a:latin typeface="Times New Roman" panose="02020603050405020304" pitchFamily="18" charset="0"/>
                <a:cs typeface="Times New Roman" panose="02020603050405020304" pitchFamily="18" charset="0"/>
              </a:rPr>
              <a:t> </a:t>
            </a:r>
            <a:r>
              <a:rPr lang="en-US" sz="2300" spc="110" dirty="0">
                <a:latin typeface="Times New Roman" panose="02020603050405020304" pitchFamily="18" charset="0"/>
                <a:cs typeface="Times New Roman" panose="02020603050405020304" pitchFamily="18" charset="0"/>
              </a:rPr>
              <a:t>extract</a:t>
            </a:r>
            <a:r>
              <a:rPr lang="en-US" sz="2300" spc="-75" dirty="0">
                <a:latin typeface="Times New Roman" panose="02020603050405020304" pitchFamily="18" charset="0"/>
                <a:cs typeface="Times New Roman" panose="02020603050405020304" pitchFamily="18" charset="0"/>
              </a:rPr>
              <a:t> </a:t>
            </a:r>
            <a:r>
              <a:rPr lang="en-US" sz="2300" spc="90" dirty="0">
                <a:latin typeface="Times New Roman" panose="02020603050405020304" pitchFamily="18" charset="0"/>
                <a:cs typeface="Times New Roman" panose="02020603050405020304" pitchFamily="18" charset="0"/>
              </a:rPr>
              <a:t>key</a:t>
            </a:r>
            <a:r>
              <a:rPr lang="en-US" sz="2300" spc="-75" dirty="0">
                <a:latin typeface="Times New Roman" panose="02020603050405020304" pitchFamily="18" charset="0"/>
                <a:cs typeface="Times New Roman" panose="02020603050405020304" pitchFamily="18" charset="0"/>
              </a:rPr>
              <a:t> </a:t>
            </a:r>
            <a:r>
              <a:rPr lang="en-US" sz="2300" spc="165" dirty="0">
                <a:latin typeface="Times New Roman" panose="02020603050405020304" pitchFamily="18" charset="0"/>
                <a:cs typeface="Times New Roman" panose="02020603050405020304" pitchFamily="18" charset="0"/>
              </a:rPr>
              <a:t>information</a:t>
            </a:r>
            <a:r>
              <a:rPr lang="en-US" sz="2300" spc="-80" dirty="0">
                <a:latin typeface="Times New Roman" panose="02020603050405020304" pitchFamily="18" charset="0"/>
                <a:cs typeface="Times New Roman" panose="02020603050405020304" pitchFamily="18" charset="0"/>
              </a:rPr>
              <a:t> </a:t>
            </a:r>
            <a:r>
              <a:rPr lang="en-US" sz="2300" spc="105" dirty="0">
                <a:latin typeface="Times New Roman" panose="02020603050405020304" pitchFamily="18" charset="0"/>
                <a:cs typeface="Times New Roman" panose="02020603050405020304" pitchFamily="18" charset="0"/>
              </a:rPr>
              <a:t>like</a:t>
            </a:r>
            <a:r>
              <a:rPr lang="en-US" sz="2300" spc="-75"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name,</a:t>
            </a:r>
            <a:r>
              <a:rPr lang="en-US" sz="2300" spc="-75" dirty="0">
                <a:latin typeface="Times New Roman" panose="02020603050405020304" pitchFamily="18" charset="0"/>
                <a:cs typeface="Times New Roman" panose="02020603050405020304" pitchFamily="18" charset="0"/>
              </a:rPr>
              <a:t> </a:t>
            </a:r>
            <a:r>
              <a:rPr lang="en-US" sz="2300" spc="70" dirty="0">
                <a:latin typeface="Times New Roman" panose="02020603050405020304" pitchFamily="18" charset="0"/>
                <a:cs typeface="Times New Roman" panose="02020603050405020304" pitchFamily="18" charset="0"/>
              </a:rPr>
              <a:t>skills,</a:t>
            </a:r>
            <a:r>
              <a:rPr lang="en-US" sz="2300" spc="-80"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education,</a:t>
            </a:r>
            <a:r>
              <a:rPr lang="en-US" sz="2300" spc="-75" dirty="0">
                <a:latin typeface="Times New Roman" panose="02020603050405020304" pitchFamily="18" charset="0"/>
                <a:cs typeface="Times New Roman" panose="02020603050405020304" pitchFamily="18" charset="0"/>
              </a:rPr>
              <a:t> </a:t>
            </a:r>
            <a:r>
              <a:rPr lang="en-US" sz="2300" spc="145" dirty="0">
                <a:latin typeface="Times New Roman" panose="02020603050405020304" pitchFamily="18" charset="0"/>
                <a:cs typeface="Times New Roman" panose="02020603050405020304" pitchFamily="18" charset="0"/>
              </a:rPr>
              <a:t>and experience</a:t>
            </a:r>
            <a:r>
              <a:rPr lang="en-US" sz="2300" spc="-90" dirty="0">
                <a:latin typeface="Times New Roman" panose="02020603050405020304" pitchFamily="18" charset="0"/>
                <a:cs typeface="Times New Roman" panose="02020603050405020304" pitchFamily="18" charset="0"/>
              </a:rPr>
              <a:t> </a:t>
            </a:r>
            <a:r>
              <a:rPr lang="en-US" sz="2300" spc="190" dirty="0">
                <a:latin typeface="Times New Roman" panose="02020603050405020304" pitchFamily="18" charset="0"/>
                <a:cs typeface="Times New Roman" panose="02020603050405020304" pitchFamily="18" charset="0"/>
              </a:rPr>
              <a:t>from</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resumes.</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90" dirty="0">
                <a:latin typeface="Times New Roman" panose="02020603050405020304" pitchFamily="18" charset="0"/>
                <a:cs typeface="Times New Roman" panose="02020603050405020304" pitchFamily="18" charset="0"/>
              </a:rPr>
              <a:t> </a:t>
            </a:r>
            <a:r>
              <a:rPr lang="en-US" sz="2300" spc="155" dirty="0">
                <a:latin typeface="Times New Roman" panose="02020603050405020304" pitchFamily="18" charset="0"/>
                <a:cs typeface="Times New Roman" panose="02020603050405020304" pitchFamily="18" charset="0"/>
              </a:rPr>
              <a:t>match</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the</a:t>
            </a:r>
            <a:r>
              <a:rPr lang="en-US" sz="2300" spc="-90" dirty="0">
                <a:latin typeface="Times New Roman" panose="02020603050405020304" pitchFamily="18" charset="0"/>
                <a:cs typeface="Times New Roman" panose="02020603050405020304" pitchFamily="18" charset="0"/>
              </a:rPr>
              <a:t> </a:t>
            </a:r>
            <a:r>
              <a:rPr lang="en-US" sz="2300" spc="125" dirty="0">
                <a:latin typeface="Times New Roman" panose="02020603050405020304" pitchFamily="18" charset="0"/>
                <a:cs typeface="Times New Roman" panose="02020603050405020304" pitchFamily="18" charset="0"/>
              </a:rPr>
              <a:t>extracted</a:t>
            </a:r>
            <a:r>
              <a:rPr lang="en-US" sz="2300" spc="-85" dirty="0">
                <a:latin typeface="Times New Roman" panose="02020603050405020304" pitchFamily="18" charset="0"/>
                <a:cs typeface="Times New Roman" panose="02020603050405020304" pitchFamily="18" charset="0"/>
              </a:rPr>
              <a:t> </a:t>
            </a:r>
            <a:r>
              <a:rPr lang="en-US" sz="2300" spc="105" dirty="0">
                <a:latin typeface="Times New Roman" panose="02020603050405020304" pitchFamily="18" charset="0"/>
                <a:cs typeface="Times New Roman" panose="02020603050405020304" pitchFamily="18" charset="0"/>
              </a:rPr>
              <a:t>skills</a:t>
            </a:r>
            <a:r>
              <a:rPr lang="en-US" sz="2300" spc="-90" dirty="0">
                <a:latin typeface="Times New Roman" panose="02020603050405020304" pitchFamily="18" charset="0"/>
                <a:cs typeface="Times New Roman" panose="02020603050405020304" pitchFamily="18" charset="0"/>
              </a:rPr>
              <a:t> </a:t>
            </a:r>
            <a:r>
              <a:rPr lang="en-US" sz="2300" spc="125" dirty="0">
                <a:latin typeface="Times New Roman" panose="02020603050405020304" pitchFamily="18" charset="0"/>
                <a:cs typeface="Times New Roman" panose="02020603050405020304" pitchFamily="18" charset="0"/>
              </a:rPr>
              <a:t>with</a:t>
            </a:r>
            <a:r>
              <a:rPr lang="en-US" sz="2300" spc="-85" dirty="0">
                <a:latin typeface="Times New Roman" panose="02020603050405020304" pitchFamily="18" charset="0"/>
                <a:cs typeface="Times New Roman" panose="02020603050405020304" pitchFamily="18" charset="0"/>
              </a:rPr>
              <a:t> </a:t>
            </a:r>
            <a:r>
              <a:rPr lang="en-US" sz="2300" spc="110" dirty="0">
                <a:latin typeface="Times New Roman" panose="02020603050405020304" pitchFamily="18" charset="0"/>
                <a:cs typeface="Times New Roman" panose="02020603050405020304" pitchFamily="18" charset="0"/>
              </a:rPr>
              <a:t>job</a:t>
            </a:r>
            <a:r>
              <a:rPr lang="en-US" sz="2300" spc="-90" dirty="0">
                <a:latin typeface="Times New Roman" panose="02020603050405020304" pitchFamily="18" charset="0"/>
                <a:cs typeface="Times New Roman" panose="02020603050405020304" pitchFamily="18" charset="0"/>
              </a:rPr>
              <a:t> </a:t>
            </a:r>
            <a:r>
              <a:rPr lang="en-US" sz="2300" spc="165" dirty="0">
                <a:latin typeface="Times New Roman" panose="02020603050405020304" pitchFamily="18" charset="0"/>
                <a:cs typeface="Times New Roman" panose="02020603050405020304" pitchFamily="18" charset="0"/>
              </a:rPr>
              <a:t>requirements</a:t>
            </a:r>
            <a:r>
              <a:rPr lang="en-US" sz="2300" spc="-85" dirty="0">
                <a:latin typeface="Times New Roman" panose="02020603050405020304" pitchFamily="18" charset="0"/>
                <a:cs typeface="Times New Roman" panose="02020603050405020304" pitchFamily="18" charset="0"/>
              </a:rPr>
              <a:t> </a:t>
            </a:r>
            <a:r>
              <a:rPr lang="en-US" sz="2300" spc="125" dirty="0">
                <a:latin typeface="Times New Roman" panose="02020603050405020304" pitchFamily="18" charset="0"/>
                <a:cs typeface="Times New Roman" panose="02020603050405020304" pitchFamily="18" charset="0"/>
              </a:rPr>
              <a:t>using</a:t>
            </a:r>
            <a:r>
              <a:rPr lang="en-US" sz="2300" spc="-90" dirty="0">
                <a:latin typeface="Times New Roman" panose="02020603050405020304" pitchFamily="18" charset="0"/>
                <a:cs typeface="Times New Roman" panose="02020603050405020304" pitchFamily="18" charset="0"/>
              </a:rPr>
              <a:t> </a:t>
            </a:r>
            <a:r>
              <a:rPr lang="en-US" sz="2300" spc="-10" dirty="0">
                <a:latin typeface="Times New Roman" panose="02020603050405020304" pitchFamily="18" charset="0"/>
                <a:cs typeface="Times New Roman" panose="02020603050405020304" pitchFamily="18" charset="0"/>
              </a:rPr>
              <a:t>AI</a:t>
            </a:r>
            <a:r>
              <a:rPr lang="en-US" sz="2300" spc="-85"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85" dirty="0">
                <a:latin typeface="Times New Roman" panose="02020603050405020304" pitchFamily="18" charset="0"/>
                <a:cs typeface="Times New Roman" panose="02020603050405020304" pitchFamily="18" charset="0"/>
              </a:rPr>
              <a:t> </a:t>
            </a:r>
            <a:r>
              <a:rPr lang="en-US" sz="2300" spc="95" dirty="0">
                <a:latin typeface="Times New Roman" panose="02020603050405020304" pitchFamily="18" charset="0"/>
                <a:cs typeface="Times New Roman" panose="02020603050405020304" pitchFamily="18" charset="0"/>
              </a:rPr>
              <a:t>NLP. </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70" dirty="0">
                <a:latin typeface="Times New Roman" panose="02020603050405020304" pitchFamily="18" charset="0"/>
                <a:cs typeface="Times New Roman" panose="02020603050405020304" pitchFamily="18" charset="0"/>
              </a:rPr>
              <a:t> </a:t>
            </a:r>
            <a:r>
              <a:rPr lang="en-US" sz="2300" spc="160" dirty="0">
                <a:latin typeface="Times New Roman" panose="02020603050405020304" pitchFamily="18" charset="0"/>
                <a:cs typeface="Times New Roman" panose="02020603050405020304" pitchFamily="18" charset="0"/>
              </a:rPr>
              <a:t>help</a:t>
            </a:r>
            <a:r>
              <a:rPr lang="en-US" sz="2300" spc="-70"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recruiters</a:t>
            </a:r>
            <a:r>
              <a:rPr lang="en-US" sz="2300" spc="-6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shortlist</a:t>
            </a:r>
            <a:r>
              <a:rPr lang="en-US" sz="2300" spc="-70"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suitable</a:t>
            </a:r>
            <a:r>
              <a:rPr lang="en-US" sz="2300" spc="-70" dirty="0">
                <a:latin typeface="Times New Roman" panose="02020603050405020304" pitchFamily="18" charset="0"/>
                <a:cs typeface="Times New Roman" panose="02020603050405020304" pitchFamily="18" charset="0"/>
              </a:rPr>
              <a:t> </a:t>
            </a:r>
            <a:r>
              <a:rPr lang="en-US" sz="2300" spc="140" dirty="0">
                <a:latin typeface="Times New Roman" panose="02020603050405020304" pitchFamily="18" charset="0"/>
                <a:cs typeface="Times New Roman" panose="02020603050405020304" pitchFamily="18" charset="0"/>
              </a:rPr>
              <a:t>candidates</a:t>
            </a:r>
            <a:r>
              <a:rPr lang="en-US" sz="2300" spc="-65" dirty="0">
                <a:latin typeface="Times New Roman" panose="02020603050405020304" pitchFamily="18" charset="0"/>
                <a:cs typeface="Times New Roman" panose="02020603050405020304" pitchFamily="18" charset="0"/>
              </a:rPr>
              <a:t> </a:t>
            </a:r>
            <a:r>
              <a:rPr lang="en-US" sz="2300" spc="114" dirty="0">
                <a:latin typeface="Times New Roman" panose="02020603050405020304" pitchFamily="18" charset="0"/>
                <a:cs typeface="Times New Roman" panose="02020603050405020304" pitchFamily="18" charset="0"/>
              </a:rPr>
              <a:t>quickly</a:t>
            </a:r>
            <a:r>
              <a:rPr lang="en-US" sz="2300" spc="-70"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65" dirty="0">
                <a:latin typeface="Times New Roman" panose="02020603050405020304" pitchFamily="18" charset="0"/>
                <a:cs typeface="Times New Roman" panose="02020603050405020304" pitchFamily="18" charset="0"/>
              </a:rPr>
              <a:t> </a:t>
            </a:r>
            <a:r>
              <a:rPr lang="en-US" sz="2300" spc="105" dirty="0">
                <a:latin typeface="Times New Roman" panose="02020603050405020304" pitchFamily="18" charset="0"/>
                <a:cs typeface="Times New Roman" panose="02020603050405020304" pitchFamily="18" charset="0"/>
              </a:rPr>
              <a:t>accurately </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85" dirty="0">
                <a:latin typeface="Times New Roman" panose="02020603050405020304" pitchFamily="18" charset="0"/>
                <a:cs typeface="Times New Roman" panose="02020603050405020304" pitchFamily="18" charset="0"/>
              </a:rPr>
              <a:t> </a:t>
            </a:r>
            <a:r>
              <a:rPr lang="en-US" sz="2300" spc="155" dirty="0">
                <a:latin typeface="Times New Roman" panose="02020603050405020304" pitchFamily="18" charset="0"/>
                <a:cs typeface="Times New Roman" panose="02020603050405020304" pitchFamily="18" charset="0"/>
              </a:rPr>
              <a:t>reduce</a:t>
            </a:r>
            <a:r>
              <a:rPr lang="en-US" sz="2300" spc="-85" dirty="0">
                <a:latin typeface="Times New Roman" panose="02020603050405020304" pitchFamily="18" charset="0"/>
                <a:cs typeface="Times New Roman" panose="02020603050405020304" pitchFamily="18" charset="0"/>
              </a:rPr>
              <a:t> </a:t>
            </a:r>
            <a:r>
              <a:rPr lang="en-US" sz="2300" spc="175" dirty="0">
                <a:latin typeface="Times New Roman" panose="02020603050405020304" pitchFamily="18" charset="0"/>
                <a:cs typeface="Times New Roman" panose="02020603050405020304" pitchFamily="18" charset="0"/>
              </a:rPr>
              <a:t>manual</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effort</a:t>
            </a:r>
            <a:r>
              <a:rPr lang="en-US" sz="2300" spc="-80"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85" dirty="0">
                <a:latin typeface="Times New Roman" panose="02020603050405020304" pitchFamily="18" charset="0"/>
                <a:cs typeface="Times New Roman" panose="02020603050405020304" pitchFamily="18" charset="0"/>
              </a:rPr>
              <a:t> </a:t>
            </a:r>
            <a:r>
              <a:rPr lang="en-US" sz="2300" spc="100" dirty="0">
                <a:latin typeface="Times New Roman" panose="02020603050405020304" pitchFamily="18" charset="0"/>
                <a:cs typeface="Times New Roman" panose="02020603050405020304" pitchFamily="18" charset="0"/>
              </a:rPr>
              <a:t>save</a:t>
            </a:r>
            <a:r>
              <a:rPr lang="en-US" sz="2300" spc="-85" dirty="0">
                <a:latin typeface="Times New Roman" panose="02020603050405020304" pitchFamily="18" charset="0"/>
                <a:cs typeface="Times New Roman" panose="02020603050405020304" pitchFamily="18" charset="0"/>
              </a:rPr>
              <a:t> </a:t>
            </a:r>
            <a:r>
              <a:rPr lang="en-US" sz="2300" spc="155" dirty="0">
                <a:latin typeface="Times New Roman" panose="02020603050405020304" pitchFamily="18" charset="0"/>
                <a:cs typeface="Times New Roman" panose="02020603050405020304" pitchFamily="18" charset="0"/>
              </a:rPr>
              <a:t>time</a:t>
            </a:r>
            <a:r>
              <a:rPr lang="en-US" sz="2300" spc="-80"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in</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the</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hiring</a:t>
            </a:r>
            <a:r>
              <a:rPr lang="en-US" sz="2300" spc="-80" dirty="0">
                <a:latin typeface="Times New Roman" panose="02020603050405020304" pitchFamily="18" charset="0"/>
                <a:cs typeface="Times New Roman" panose="02020603050405020304" pitchFamily="18" charset="0"/>
              </a:rPr>
              <a:t> </a:t>
            </a:r>
            <a:r>
              <a:rPr lang="en-US" sz="2300" spc="110" dirty="0">
                <a:latin typeface="Times New Roman" panose="02020603050405020304" pitchFamily="18" charset="0"/>
                <a:cs typeface="Times New Roman" panose="02020603050405020304" pitchFamily="18" charset="0"/>
              </a:rPr>
              <a:t>process.</a:t>
            </a:r>
            <a:endParaRPr lang="en-US" sz="2300" dirty="0">
              <a:latin typeface="Times New Roman" panose="02020603050405020304" pitchFamily="18" charset="0"/>
              <a:cs typeface="Times New Roman" panose="02020603050405020304" pitchFamily="18" charset="0"/>
            </a:endParaRPr>
          </a:p>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990600"/>
          </a:xfrm>
        </p:spPr>
        <p:txBody>
          <a:bodyPr>
            <a:normAutofit fontScale="90000"/>
          </a:bodyPr>
          <a:lstStyle/>
          <a:p>
            <a:r>
              <a:rPr lang="en-US" dirty="0"/>
              <a:t>PROBLEM STATEMENT</a:t>
            </a:r>
            <a:br>
              <a:rPr lang="en-US" dirty="0"/>
            </a:br>
            <a:endParaRPr lang="en-US" dirty="0"/>
          </a:p>
        </p:txBody>
      </p:sp>
      <p:sp>
        <p:nvSpPr>
          <p:cNvPr id="3" name="Content Placeholder 2"/>
          <p:cNvSpPr>
            <a:spLocks noGrp="1"/>
          </p:cNvSpPr>
          <p:nvPr>
            <p:ph idx="1"/>
          </p:nvPr>
        </p:nvSpPr>
        <p:spPr>
          <a:xfrm>
            <a:off x="457200" y="1600201"/>
            <a:ext cx="8229600" cy="3810000"/>
          </a:xfrm>
        </p:spPr>
        <p:txBody>
          <a:bodyPr/>
          <a:lstStyle/>
          <a:p>
            <a:pPr algn="just"/>
            <a:r>
              <a:rPr lang="en-US" dirty="0">
                <a:latin typeface="Times New Roman" panose="02020603050405020304" pitchFamily="18" charset="0"/>
                <a:cs typeface="Times New Roman" panose="02020603050405020304" pitchFamily="18" charset="0"/>
              </a:rPr>
              <a:t>The main problem is that the traditional resume screening process is time-consuming and inaccurate. Due to human error and manual filtering, recruiters may miss out on ideal candidates. So, there is a need for a smart, automated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944562"/>
          </a:xfrm>
        </p:spPr>
        <p:txBody>
          <a:bodyPr>
            <a:normAutofit/>
          </a:bodyPr>
          <a:lstStyle/>
          <a:p>
            <a:r>
              <a:rPr lang="en-US" dirty="0"/>
              <a:t>Literature survey</a:t>
            </a:r>
          </a:p>
        </p:txBody>
      </p:sp>
      <p:sp>
        <p:nvSpPr>
          <p:cNvPr id="3" name="Content Placeholder 2"/>
          <p:cNvSpPr>
            <a:spLocks noGrp="1"/>
          </p:cNvSpPr>
          <p:nvPr>
            <p:ph idx="1"/>
          </p:nvPr>
        </p:nvSpPr>
        <p:spPr>
          <a:xfrm>
            <a:off x="457200" y="1417638"/>
            <a:ext cx="8229600" cy="4708525"/>
          </a:xfrm>
        </p:spPr>
        <p:txBody>
          <a:bodyPr>
            <a:normAutofit/>
          </a:bodyPr>
          <a:lstStyle/>
          <a:p>
            <a:r>
              <a:rPr lang="en-US" sz="2400" dirty="0">
                <a:latin typeface="Times New Roman" panose="02020603050405020304" pitchFamily="18" charset="0"/>
                <a:cs typeface="Times New Roman" panose="02020603050405020304" pitchFamily="18" charset="0"/>
              </a:rPr>
              <a:t>Traditional resume screening is time-consuming and often inaccurate. Most systems use keyword matching, which may miss the real potential of a candidate. </a:t>
            </a:r>
          </a:p>
          <a:p>
            <a:r>
              <a:rPr lang="en-US" sz="2400" dirty="0">
                <a:latin typeface="Times New Roman" panose="02020603050405020304" pitchFamily="18" charset="0"/>
                <a:cs typeface="Times New Roman" panose="02020603050405020304" pitchFamily="18" charset="0"/>
              </a:rPr>
              <a:t>Recent studies suggest using Artificial Intelligence (AI) and Natural Language Processing (NLP) for better resume analysis. Tools like </a:t>
            </a:r>
            <a:r>
              <a:rPr lang="en-US" sz="2400" dirty="0" err="1">
                <a:latin typeface="Times New Roman" panose="02020603050405020304" pitchFamily="18" charset="0"/>
                <a:cs typeface="Times New Roman" panose="02020603050405020304" pitchFamily="18" charset="0"/>
              </a:rPr>
              <a:t>spaCy</a:t>
            </a:r>
            <a:r>
              <a:rPr lang="en-US" sz="2400" dirty="0">
                <a:latin typeface="Times New Roman" panose="02020603050405020304" pitchFamily="18" charset="0"/>
                <a:cs typeface="Times New Roman" panose="02020603050405020304" pitchFamily="18" charset="0"/>
              </a:rPr>
              <a:t>, NLTK, and </a:t>
            </a:r>
            <a:r>
              <a:rPr lang="en-US" sz="2400" dirty="0" err="1">
                <a:latin typeface="Times New Roman" panose="02020603050405020304" pitchFamily="18" charset="0"/>
                <a:cs typeface="Times New Roman" panose="02020603050405020304" pitchFamily="18" charset="0"/>
              </a:rPr>
              <a:t>PyMuPDF</a:t>
            </a:r>
            <a:r>
              <a:rPr lang="en-US" sz="2400" dirty="0">
                <a:latin typeface="Times New Roman" panose="02020603050405020304" pitchFamily="18" charset="0"/>
                <a:cs typeface="Times New Roman" panose="02020603050405020304" pitchFamily="18" charset="0"/>
              </a:rPr>
              <a:t> help extract important information from resumes effectively.</a:t>
            </a:r>
          </a:p>
          <a:p>
            <a:r>
              <a:rPr lang="en-US" sz="2400" dirty="0">
                <a:latin typeface="Times New Roman" panose="02020603050405020304" pitchFamily="18" charset="0"/>
                <a:cs typeface="Times New Roman" panose="02020603050405020304" pitchFamily="18" charset="0"/>
              </a:rPr>
              <a:t>Our project builds on these technologies to create a smart system that automates resume reading and matches candidate skills with job requirements accurately.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dirty="0"/>
              <a:t>PROPOSED SYSTEM</a:t>
            </a:r>
          </a:p>
        </p:txBody>
      </p:sp>
      <p:sp>
        <p:nvSpPr>
          <p:cNvPr id="3" name="Content Placeholder 2"/>
          <p:cNvSpPr>
            <a:spLocks noGrp="1"/>
          </p:cNvSpPr>
          <p:nvPr>
            <p:ph idx="1"/>
          </p:nvPr>
        </p:nvSpPr>
        <p:spPr/>
        <p:txBody>
          <a:bodyPr>
            <a:normAutofit fontScale="77500" lnSpcReduction="20000"/>
          </a:bodyPr>
          <a:lstStyle/>
          <a:p>
            <a:pPr algn="just"/>
            <a:r>
              <a:rPr lang="en-US" dirty="0"/>
              <a:t>The proposed system is an AI-powered web application that helps recruiters automatically read and analyze resumes. Users can upload resumes in PDF format. The system uses Natural Language Processing (NLP) to extract important information like name, contact details, skills, education, and experience. After extracting the data, the system compares the candidate’s skills with the required job description and calculates a matching score. This score helps recruiters easily identify the most suitable candidates. The system also stores the results for future reference and provides an easy-to-use dashboard for viewing and filtering applicants. This reduces manual work, saves time, and improves the overall hiring 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USED</a:t>
            </a:r>
          </a:p>
        </p:txBody>
      </p:sp>
      <p:sp>
        <p:nvSpPr>
          <p:cNvPr id="3" name="Content Placeholder 2"/>
          <p:cNvSpPr>
            <a:spLocks noGrp="1"/>
          </p:cNvSpPr>
          <p:nvPr>
            <p:ph idx="1"/>
          </p:nvPr>
        </p:nvSpPr>
        <p:spPr>
          <a:xfrm>
            <a:off x="457200" y="1600200"/>
            <a:ext cx="8382000" cy="4525963"/>
          </a:xfrm>
        </p:spPr>
        <p:txBody>
          <a:bodyPr/>
          <a:lstStyle/>
          <a:p>
            <a:pPr algn="just"/>
            <a:r>
              <a:rPr lang="en-US" dirty="0"/>
              <a:t>We have used the following technologies to build our system:</a:t>
            </a:r>
          </a:p>
          <a:p>
            <a:pPr algn="just"/>
            <a:r>
              <a:rPr lang="en-US" dirty="0"/>
              <a:t>Frontend: HTML, CSS, JavaScript</a:t>
            </a:r>
          </a:p>
          <a:p>
            <a:pPr algn="just"/>
            <a:r>
              <a:rPr lang="en-US" dirty="0"/>
              <a:t>Backend: Python with Flask Framework</a:t>
            </a:r>
          </a:p>
          <a:p>
            <a:pPr algn="just"/>
            <a:r>
              <a:rPr lang="en-US" dirty="0"/>
              <a:t>Libraries: </a:t>
            </a:r>
            <a:r>
              <a:rPr lang="en-US" dirty="0" err="1"/>
              <a:t>PyMuPDF</a:t>
            </a:r>
            <a:r>
              <a:rPr lang="en-US" dirty="0"/>
              <a:t> for PDF reading, </a:t>
            </a:r>
            <a:r>
              <a:rPr lang="en-US" dirty="0" err="1"/>
              <a:t>spaCy</a:t>
            </a:r>
            <a:r>
              <a:rPr lang="en-US" dirty="0"/>
              <a:t>, and NLTK for Natural Language Processing</a:t>
            </a:r>
          </a:p>
          <a:p>
            <a:pPr algn="just"/>
            <a:r>
              <a:rPr lang="en-US" dirty="0"/>
              <a:t>Database: MySQL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 FLOW CHART </a:t>
            </a:r>
            <a:endParaRPr lang="en-US" sz="2200" dirty="0"/>
          </a:p>
        </p:txBody>
      </p:sp>
      <p:grpSp>
        <p:nvGrpSpPr>
          <p:cNvPr id="4" name="object 3">
            <a:extLst>
              <a:ext uri="{FF2B5EF4-FFF2-40B4-BE49-F238E27FC236}">
                <a16:creationId xmlns:a16="http://schemas.microsoft.com/office/drawing/2014/main" id="{D64E84FC-031A-CADC-8565-957B6D99CBA6}"/>
              </a:ext>
            </a:extLst>
          </p:cNvPr>
          <p:cNvGrpSpPr/>
          <p:nvPr/>
        </p:nvGrpSpPr>
        <p:grpSpPr>
          <a:xfrm>
            <a:off x="990600" y="1600200"/>
            <a:ext cx="7467600" cy="4708525"/>
            <a:chOff x="0" y="1447800"/>
            <a:chExt cx="18287999" cy="8839199"/>
          </a:xfrm>
        </p:grpSpPr>
        <p:pic>
          <p:nvPicPr>
            <p:cNvPr id="5" name="object 4">
              <a:extLst>
                <a:ext uri="{FF2B5EF4-FFF2-40B4-BE49-F238E27FC236}">
                  <a16:creationId xmlns:a16="http://schemas.microsoft.com/office/drawing/2014/main" id="{0B3B236B-4EA4-090C-FDB0-932B508A5E20}"/>
                </a:ext>
              </a:extLst>
            </p:cNvPr>
            <p:cNvPicPr/>
            <p:nvPr/>
          </p:nvPicPr>
          <p:blipFill>
            <a:blip r:embed="rId2" cstate="print"/>
            <a:stretch>
              <a:fillRect/>
            </a:stretch>
          </p:blipFill>
          <p:spPr>
            <a:xfrm>
              <a:off x="4675441" y="2602890"/>
              <a:ext cx="9239249" cy="5381624"/>
            </a:xfrm>
            <a:prstGeom prst="rect">
              <a:avLst/>
            </a:prstGeom>
          </p:spPr>
        </p:pic>
        <p:pic>
          <p:nvPicPr>
            <p:cNvPr id="6" name="object 5">
              <a:extLst>
                <a:ext uri="{FF2B5EF4-FFF2-40B4-BE49-F238E27FC236}">
                  <a16:creationId xmlns:a16="http://schemas.microsoft.com/office/drawing/2014/main" id="{211B3D3F-0D2A-AFEC-0CA8-3F712B9FB07B}"/>
                </a:ext>
              </a:extLst>
            </p:cNvPr>
            <p:cNvPicPr/>
            <p:nvPr/>
          </p:nvPicPr>
          <p:blipFill>
            <a:blip r:embed="rId3" cstate="print"/>
            <a:stretch>
              <a:fillRect/>
            </a:stretch>
          </p:blipFill>
          <p:spPr>
            <a:xfrm>
              <a:off x="0" y="1447800"/>
              <a:ext cx="18287999" cy="883919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p>
        </p:txBody>
      </p:sp>
      <p:sp>
        <p:nvSpPr>
          <p:cNvPr id="3" name="Content Placeholder 2"/>
          <p:cNvSpPr>
            <a:spLocks noGrp="1"/>
          </p:cNvSpPr>
          <p:nvPr>
            <p:ph idx="1"/>
          </p:nvPr>
        </p:nvSpPr>
        <p:spPr>
          <a:xfrm>
            <a:off x="457200" y="1600200"/>
            <a:ext cx="8305800" cy="4572000"/>
          </a:xfrm>
        </p:spPr>
        <p:txBody>
          <a:bodyPr/>
          <a:lstStyle/>
          <a:p>
            <a:endParaRPr lang="en-US" sz="2400" dirty="0"/>
          </a:p>
          <a:p>
            <a:pPr marL="0" indent="0">
              <a:lnSpc>
                <a:spcPct val="100000"/>
              </a:lnSpc>
              <a:spcBef>
                <a:spcPts val="140"/>
              </a:spcBef>
              <a:buNone/>
            </a:pPr>
            <a:r>
              <a:rPr lang="en-US" sz="2400" spc="110" dirty="0">
                <a:latin typeface="Tahoma"/>
                <a:cs typeface="Tahoma"/>
              </a:rPr>
              <a:t>  The</a:t>
            </a:r>
            <a:r>
              <a:rPr lang="en-US" sz="2400" spc="-85" dirty="0">
                <a:latin typeface="Tahoma"/>
                <a:cs typeface="Tahoma"/>
              </a:rPr>
              <a:t> </a:t>
            </a:r>
            <a:r>
              <a:rPr lang="en-US" sz="2400" spc="220" dirty="0">
                <a:latin typeface="Tahoma"/>
                <a:cs typeface="Tahoma"/>
              </a:rPr>
              <a:t>main</a:t>
            </a:r>
            <a:r>
              <a:rPr lang="en-US" sz="2400" spc="-85" dirty="0">
                <a:latin typeface="Tahoma"/>
                <a:cs typeface="Tahoma"/>
              </a:rPr>
              <a:t> </a:t>
            </a:r>
            <a:r>
              <a:rPr lang="en-US" sz="2400" spc="225" dirty="0">
                <a:latin typeface="Tahoma"/>
                <a:cs typeface="Tahoma"/>
              </a:rPr>
              <a:t>modules</a:t>
            </a:r>
            <a:r>
              <a:rPr lang="en-US" sz="2400" spc="-85" dirty="0">
                <a:latin typeface="Tahoma"/>
                <a:cs typeface="Tahoma"/>
              </a:rPr>
              <a:t> </a:t>
            </a:r>
            <a:r>
              <a:rPr lang="en-US" sz="2400" spc="180" dirty="0">
                <a:latin typeface="Tahoma"/>
                <a:cs typeface="Tahoma"/>
              </a:rPr>
              <a:t>of</a:t>
            </a:r>
            <a:r>
              <a:rPr lang="en-US" sz="2400" spc="-85" dirty="0">
                <a:latin typeface="Tahoma"/>
                <a:cs typeface="Tahoma"/>
              </a:rPr>
              <a:t> </a:t>
            </a:r>
            <a:r>
              <a:rPr lang="en-US" sz="2400" spc="235" dirty="0">
                <a:latin typeface="Tahoma"/>
                <a:cs typeface="Tahoma"/>
              </a:rPr>
              <a:t>our</a:t>
            </a:r>
            <a:r>
              <a:rPr lang="en-US" sz="2400" spc="-85" dirty="0">
                <a:latin typeface="Tahoma"/>
                <a:cs typeface="Tahoma"/>
              </a:rPr>
              <a:t> </a:t>
            </a:r>
            <a:r>
              <a:rPr lang="en-US" sz="2400" spc="165" dirty="0">
                <a:latin typeface="Tahoma"/>
                <a:cs typeface="Tahoma"/>
              </a:rPr>
              <a:t>system</a:t>
            </a:r>
            <a:r>
              <a:rPr lang="en-US" sz="2400" spc="-85" dirty="0">
                <a:latin typeface="Tahoma"/>
                <a:cs typeface="Tahoma"/>
              </a:rPr>
              <a:t> </a:t>
            </a:r>
            <a:r>
              <a:rPr lang="en-US" sz="2400" spc="45" dirty="0">
                <a:latin typeface="Tahoma"/>
                <a:cs typeface="Tahoma"/>
              </a:rPr>
              <a:t>are:</a:t>
            </a:r>
          </a:p>
          <a:p>
            <a:pPr marL="0" indent="0">
              <a:lnSpc>
                <a:spcPct val="100000"/>
              </a:lnSpc>
              <a:spcBef>
                <a:spcPts val="140"/>
              </a:spcBef>
              <a:buNone/>
            </a:pPr>
            <a:endParaRPr lang="en-US" sz="2400" spc="45" dirty="0">
              <a:latin typeface="Tahoma"/>
              <a:cs typeface="Tahoma"/>
            </a:endParaRPr>
          </a:p>
          <a:p>
            <a:pPr marL="708026" marR="1654175" indent="-285750">
              <a:lnSpc>
                <a:spcPct val="118000"/>
              </a:lnSpc>
              <a:spcBef>
                <a:spcPts val="90"/>
              </a:spcBef>
            </a:pPr>
            <a:r>
              <a:rPr lang="en-US" sz="2400" spc="190" dirty="0">
                <a:latin typeface="Tahoma"/>
                <a:cs typeface="Tahoma"/>
              </a:rPr>
              <a:t> Resume</a:t>
            </a:r>
            <a:r>
              <a:rPr lang="en-US" sz="2400" spc="-85" dirty="0">
                <a:latin typeface="Tahoma"/>
                <a:cs typeface="Tahoma"/>
              </a:rPr>
              <a:t> </a:t>
            </a:r>
            <a:r>
              <a:rPr lang="en-US" sz="2400" spc="229" dirty="0">
                <a:latin typeface="Tahoma"/>
                <a:cs typeface="Tahoma"/>
              </a:rPr>
              <a:t>Upload</a:t>
            </a:r>
            <a:r>
              <a:rPr lang="en-US" sz="2400" spc="-80" dirty="0">
                <a:latin typeface="Tahoma"/>
                <a:cs typeface="Tahoma"/>
              </a:rPr>
              <a:t> </a:t>
            </a:r>
            <a:r>
              <a:rPr lang="en-US" sz="2400" spc="220" dirty="0">
                <a:latin typeface="Tahoma"/>
                <a:cs typeface="Tahoma"/>
              </a:rPr>
              <a:t>and</a:t>
            </a:r>
            <a:r>
              <a:rPr lang="en-US" sz="2400" spc="-85" dirty="0">
                <a:latin typeface="Tahoma"/>
                <a:cs typeface="Tahoma"/>
              </a:rPr>
              <a:t> </a:t>
            </a:r>
            <a:r>
              <a:rPr lang="en-US" sz="2400" spc="155" dirty="0">
                <a:latin typeface="Tahoma"/>
                <a:cs typeface="Tahoma"/>
              </a:rPr>
              <a:t>Parsing</a:t>
            </a:r>
          </a:p>
          <a:p>
            <a:pPr marL="708026" marR="1654175" indent="-285750">
              <a:lnSpc>
                <a:spcPct val="118000"/>
              </a:lnSpc>
              <a:spcBef>
                <a:spcPts val="90"/>
              </a:spcBef>
            </a:pPr>
            <a:r>
              <a:rPr lang="en-US" sz="2400" spc="155" dirty="0">
                <a:latin typeface="Tahoma"/>
                <a:cs typeface="Tahoma"/>
              </a:rPr>
              <a:t> </a:t>
            </a:r>
            <a:r>
              <a:rPr lang="en-US" sz="2400" spc="165" dirty="0">
                <a:latin typeface="Tahoma"/>
                <a:cs typeface="Tahoma"/>
              </a:rPr>
              <a:t>Information Extraction</a:t>
            </a:r>
            <a:endParaRPr lang="en-US" sz="2400" dirty="0">
              <a:latin typeface="Tahoma"/>
              <a:cs typeface="Tahoma"/>
            </a:endParaRPr>
          </a:p>
          <a:p>
            <a:pPr marL="708026" marR="1654175" indent="-285750">
              <a:lnSpc>
                <a:spcPct val="118000"/>
              </a:lnSpc>
              <a:spcBef>
                <a:spcPts val="90"/>
              </a:spcBef>
            </a:pPr>
            <a:r>
              <a:rPr lang="en-US" sz="2400" spc="100" dirty="0">
                <a:latin typeface="Tahoma"/>
                <a:cs typeface="Tahoma"/>
              </a:rPr>
              <a:t> Skill</a:t>
            </a:r>
            <a:r>
              <a:rPr lang="en-US" sz="2400" spc="-85" dirty="0">
                <a:latin typeface="Tahoma"/>
                <a:cs typeface="Tahoma"/>
              </a:rPr>
              <a:t> </a:t>
            </a:r>
            <a:r>
              <a:rPr lang="en-US" sz="2400" spc="195" dirty="0">
                <a:latin typeface="Tahoma"/>
                <a:cs typeface="Tahoma"/>
              </a:rPr>
              <a:t>Matching</a:t>
            </a:r>
            <a:r>
              <a:rPr lang="en-US" sz="2400" spc="-85" dirty="0">
                <a:latin typeface="Tahoma"/>
                <a:cs typeface="Tahoma"/>
              </a:rPr>
              <a:t> </a:t>
            </a:r>
            <a:r>
              <a:rPr lang="en-US" sz="2400" spc="155" dirty="0">
                <a:latin typeface="Tahoma"/>
                <a:cs typeface="Tahoma"/>
              </a:rPr>
              <a:t>with</a:t>
            </a:r>
            <a:r>
              <a:rPr lang="en-US" sz="2400" spc="-85" dirty="0">
                <a:latin typeface="Tahoma"/>
                <a:cs typeface="Tahoma"/>
              </a:rPr>
              <a:t> </a:t>
            </a:r>
            <a:r>
              <a:rPr lang="en-US" sz="2400" dirty="0">
                <a:latin typeface="Tahoma"/>
                <a:cs typeface="Tahoma"/>
              </a:rPr>
              <a:t>Job</a:t>
            </a:r>
            <a:r>
              <a:rPr lang="en-US" sz="2400" spc="-85" dirty="0">
                <a:latin typeface="Tahoma"/>
                <a:cs typeface="Tahoma"/>
              </a:rPr>
              <a:t> </a:t>
            </a:r>
            <a:r>
              <a:rPr lang="en-US" sz="2400" spc="170" dirty="0">
                <a:latin typeface="Tahoma"/>
                <a:cs typeface="Tahoma"/>
              </a:rPr>
              <a:t>Description</a:t>
            </a:r>
          </a:p>
          <a:p>
            <a:pPr marL="708026" marR="1654175" indent="-285750">
              <a:lnSpc>
                <a:spcPct val="118000"/>
              </a:lnSpc>
              <a:spcBef>
                <a:spcPts val="90"/>
              </a:spcBef>
            </a:pPr>
            <a:r>
              <a:rPr lang="en-US" sz="2400" spc="170" dirty="0">
                <a:latin typeface="Tahoma"/>
                <a:cs typeface="Tahoma"/>
              </a:rPr>
              <a:t> </a:t>
            </a:r>
            <a:r>
              <a:rPr lang="en-US" sz="2400" spc="229" dirty="0">
                <a:latin typeface="Tahoma"/>
                <a:cs typeface="Tahoma"/>
              </a:rPr>
              <a:t>Admin</a:t>
            </a:r>
            <a:r>
              <a:rPr lang="en-US" sz="2400" spc="-90" dirty="0">
                <a:latin typeface="Tahoma"/>
                <a:cs typeface="Tahoma"/>
              </a:rPr>
              <a:t> </a:t>
            </a:r>
            <a:r>
              <a:rPr lang="en-US" sz="2400" spc="185" dirty="0">
                <a:latin typeface="Tahoma"/>
                <a:cs typeface="Tahoma"/>
              </a:rPr>
              <a:t>Panel</a:t>
            </a:r>
            <a:r>
              <a:rPr lang="en-US" sz="2400" spc="-85" dirty="0">
                <a:latin typeface="Tahoma"/>
                <a:cs typeface="Tahoma"/>
              </a:rPr>
              <a:t> </a:t>
            </a:r>
            <a:r>
              <a:rPr lang="en-US" sz="2400" spc="170" dirty="0">
                <a:latin typeface="Tahoma"/>
                <a:cs typeface="Tahoma"/>
              </a:rPr>
              <a:t>to</a:t>
            </a:r>
            <a:r>
              <a:rPr lang="en-US" sz="2400" spc="-85" dirty="0">
                <a:latin typeface="Tahoma"/>
                <a:cs typeface="Tahoma"/>
              </a:rPr>
              <a:t> </a:t>
            </a:r>
            <a:r>
              <a:rPr lang="en-US" sz="2400" spc="130" dirty="0">
                <a:latin typeface="Tahoma"/>
                <a:cs typeface="Tahoma"/>
              </a:rPr>
              <a:t>view</a:t>
            </a:r>
            <a:r>
              <a:rPr lang="en-US" sz="2400" spc="-85" dirty="0">
                <a:latin typeface="Tahoma"/>
                <a:cs typeface="Tahoma"/>
              </a:rPr>
              <a:t> </a:t>
            </a:r>
            <a:r>
              <a:rPr lang="en-US" sz="2400" spc="125" dirty="0">
                <a:latin typeface="Tahoma"/>
                <a:cs typeface="Tahoma"/>
              </a:rPr>
              <a:t>all</a:t>
            </a:r>
            <a:r>
              <a:rPr lang="en-US" sz="2400" spc="-85" dirty="0">
                <a:latin typeface="Tahoma"/>
                <a:cs typeface="Tahoma"/>
              </a:rPr>
              <a:t> </a:t>
            </a:r>
            <a:r>
              <a:rPr lang="en-US" sz="2400" spc="155" dirty="0">
                <a:latin typeface="Tahoma"/>
                <a:cs typeface="Tahoma"/>
              </a:rPr>
              <a:t>results</a:t>
            </a:r>
            <a:endParaRPr lang="en-US" sz="2400" dirty="0">
              <a:latin typeface="Tahoma"/>
              <a:cs typeface="Tahoma"/>
            </a:endParaRPr>
          </a:p>
          <a:p>
            <a:pPr marL="708026" marR="1654175" indent="-285750">
              <a:lnSpc>
                <a:spcPct val="118000"/>
              </a:lnSpc>
              <a:spcBef>
                <a:spcPts val="90"/>
              </a:spcBef>
            </a:pPr>
            <a:r>
              <a:rPr lang="en-US" sz="2400" spc="140" dirty="0">
                <a:latin typeface="Tahoma"/>
                <a:cs typeface="Tahoma"/>
              </a:rPr>
              <a:t> Analytical</a:t>
            </a:r>
            <a:r>
              <a:rPr lang="en-US" sz="2400" spc="-85" dirty="0">
                <a:latin typeface="Tahoma"/>
                <a:cs typeface="Tahoma"/>
              </a:rPr>
              <a:t> </a:t>
            </a:r>
            <a:r>
              <a:rPr lang="en-US" sz="2400" spc="170" dirty="0">
                <a:latin typeface="Tahoma"/>
                <a:cs typeface="Tahoma"/>
              </a:rPr>
              <a:t>Reports</a:t>
            </a:r>
            <a:r>
              <a:rPr lang="en-US" sz="2400" spc="-85" dirty="0">
                <a:latin typeface="Tahoma"/>
                <a:cs typeface="Tahoma"/>
              </a:rPr>
              <a:t> </a:t>
            </a:r>
            <a:r>
              <a:rPr lang="en-US" sz="2400" spc="190" dirty="0">
                <a:latin typeface="Tahoma"/>
                <a:cs typeface="Tahoma"/>
              </a:rPr>
              <a:t>for</a:t>
            </a:r>
            <a:r>
              <a:rPr lang="en-US" sz="2400" spc="-85" dirty="0">
                <a:latin typeface="Tahoma"/>
                <a:cs typeface="Tahoma"/>
              </a:rPr>
              <a:t> </a:t>
            </a:r>
            <a:r>
              <a:rPr lang="en-US" sz="2400" spc="175" dirty="0">
                <a:latin typeface="Tahoma"/>
                <a:cs typeface="Tahoma"/>
              </a:rPr>
              <a:t>better </a:t>
            </a:r>
            <a:r>
              <a:rPr lang="en-US" sz="2400" spc="140" dirty="0">
                <a:latin typeface="Tahoma"/>
                <a:cs typeface="Tahoma"/>
              </a:rPr>
              <a:t>decision-making</a:t>
            </a:r>
            <a:endParaRPr lang="en-US" sz="2400" dirty="0">
              <a:latin typeface="Tahoma"/>
              <a:cs typeface="Tahoma"/>
            </a:endParaRPr>
          </a:p>
          <a:p>
            <a:pPr marL="0" indent="0">
              <a:lnSpc>
                <a:spcPct val="100000"/>
              </a:lnSpc>
              <a:spcBef>
                <a:spcPts val="140"/>
              </a:spcBef>
              <a:buNone/>
            </a:pPr>
            <a:endParaRPr lang="en-US" sz="1600" dirty="0">
              <a:latin typeface="Tahoma"/>
              <a:cs typeface="Tahoma"/>
            </a:endParaRPr>
          </a:p>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TESTING/PERFORMANCE EVALUATION/RESULTS/comparison chart (</a:t>
            </a:r>
            <a:r>
              <a:rPr lang="en-US" sz="1800" dirty="0"/>
              <a:t>any one)</a:t>
            </a:r>
          </a:p>
        </p:txBody>
      </p:sp>
      <p:pic>
        <p:nvPicPr>
          <p:cNvPr id="4" name="object 4">
            <a:extLst>
              <a:ext uri="{FF2B5EF4-FFF2-40B4-BE49-F238E27FC236}">
                <a16:creationId xmlns:a16="http://schemas.microsoft.com/office/drawing/2014/main" id="{B65EFE15-0D6C-34E9-7924-A08B89E6AC5E}"/>
              </a:ext>
            </a:extLst>
          </p:cNvPr>
          <p:cNvPicPr>
            <a:picLocks noGrp="1"/>
          </p:cNvPicPr>
          <p:nvPr>
            <p:ph idx="1"/>
          </p:nvPr>
        </p:nvPicPr>
        <p:blipFill>
          <a:blip r:embed="rId2" cstate="print"/>
          <a:stretch>
            <a:fillRect/>
          </a:stretch>
        </p:blipFill>
        <p:spPr>
          <a:xfrm>
            <a:off x="457200" y="1600200"/>
            <a:ext cx="3352800" cy="2286000"/>
          </a:xfrm>
          <a:prstGeom prst="rect">
            <a:avLst/>
          </a:prstGeom>
        </p:spPr>
      </p:pic>
      <p:pic>
        <p:nvPicPr>
          <p:cNvPr id="5" name="object 5">
            <a:extLst>
              <a:ext uri="{FF2B5EF4-FFF2-40B4-BE49-F238E27FC236}">
                <a16:creationId xmlns:a16="http://schemas.microsoft.com/office/drawing/2014/main" id="{0573E420-0E44-55D5-3C2F-B114162F5BF3}"/>
              </a:ext>
            </a:extLst>
          </p:cNvPr>
          <p:cNvPicPr/>
          <p:nvPr/>
        </p:nvPicPr>
        <p:blipFill>
          <a:blip r:embed="rId3" cstate="print"/>
          <a:stretch>
            <a:fillRect/>
          </a:stretch>
        </p:blipFill>
        <p:spPr>
          <a:xfrm>
            <a:off x="4203700" y="1600200"/>
            <a:ext cx="4178300" cy="2286000"/>
          </a:xfrm>
          <a:prstGeom prst="rect">
            <a:avLst/>
          </a:prstGeom>
        </p:spPr>
      </p:pic>
      <p:pic>
        <p:nvPicPr>
          <p:cNvPr id="6" name="object 4">
            <a:extLst>
              <a:ext uri="{FF2B5EF4-FFF2-40B4-BE49-F238E27FC236}">
                <a16:creationId xmlns:a16="http://schemas.microsoft.com/office/drawing/2014/main" id="{8EC53E1E-F008-FC67-6DC6-4B040BA48FD9}"/>
              </a:ext>
            </a:extLst>
          </p:cNvPr>
          <p:cNvPicPr/>
          <p:nvPr/>
        </p:nvPicPr>
        <p:blipFill>
          <a:blip r:embed="rId4" cstate="print"/>
          <a:stretch>
            <a:fillRect/>
          </a:stretch>
        </p:blipFill>
        <p:spPr>
          <a:xfrm>
            <a:off x="457200" y="4068762"/>
            <a:ext cx="3352800" cy="2514600"/>
          </a:xfrm>
          <a:prstGeom prst="rect">
            <a:avLst/>
          </a:prstGeom>
        </p:spPr>
      </p:pic>
      <p:pic>
        <p:nvPicPr>
          <p:cNvPr id="7" name="object 5">
            <a:extLst>
              <a:ext uri="{FF2B5EF4-FFF2-40B4-BE49-F238E27FC236}">
                <a16:creationId xmlns:a16="http://schemas.microsoft.com/office/drawing/2014/main" id="{220206FE-C8F5-CF95-1BFA-CBCC1E5A1AEC}"/>
              </a:ext>
            </a:extLst>
          </p:cNvPr>
          <p:cNvPicPr/>
          <p:nvPr/>
        </p:nvPicPr>
        <p:blipFill>
          <a:blip r:embed="rId5" cstate="print"/>
          <a:stretch>
            <a:fillRect/>
          </a:stretch>
        </p:blipFill>
        <p:spPr>
          <a:xfrm>
            <a:off x="4203700" y="4068762"/>
            <a:ext cx="4178300" cy="2600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normAutofit fontScale="77500" lnSpcReduction="20000"/>
          </a:bodyPr>
          <a:lstStyle/>
          <a:p>
            <a:pPr marL="0" marR="5080" indent="0" algn="just">
              <a:lnSpc>
                <a:spcPct val="157300"/>
              </a:lnSpc>
              <a:spcBef>
                <a:spcPts val="95"/>
              </a:spcBef>
              <a:buNone/>
            </a:pPr>
            <a:r>
              <a:rPr lang="en-US" dirty="0"/>
              <a:t>In</a:t>
            </a:r>
            <a:r>
              <a:rPr lang="en-US" spc="-85" dirty="0"/>
              <a:t> </a:t>
            </a:r>
            <a:r>
              <a:rPr lang="en-US" spc="130" dirty="0"/>
              <a:t>this</a:t>
            </a:r>
            <a:r>
              <a:rPr lang="en-US" spc="-80" dirty="0"/>
              <a:t> </a:t>
            </a:r>
            <a:r>
              <a:rPr lang="en-US" spc="90" dirty="0"/>
              <a:t>project,</a:t>
            </a:r>
            <a:r>
              <a:rPr lang="en-US" spc="-85" dirty="0"/>
              <a:t> </a:t>
            </a:r>
            <a:r>
              <a:rPr lang="en-US" spc="120" dirty="0"/>
              <a:t>we</a:t>
            </a:r>
            <a:r>
              <a:rPr lang="en-US" spc="-80" dirty="0"/>
              <a:t> </a:t>
            </a:r>
            <a:r>
              <a:rPr lang="en-US" spc="155" dirty="0"/>
              <a:t>developed</a:t>
            </a:r>
            <a:r>
              <a:rPr lang="en-US" spc="-80" dirty="0"/>
              <a:t> </a:t>
            </a:r>
            <a:r>
              <a:rPr lang="en-US" spc="160" dirty="0"/>
              <a:t>an</a:t>
            </a:r>
            <a:r>
              <a:rPr lang="en-US" spc="-85" dirty="0"/>
              <a:t> </a:t>
            </a:r>
            <a:r>
              <a:rPr lang="en-US" spc="-75" dirty="0"/>
              <a:t>AI-</a:t>
            </a:r>
            <a:r>
              <a:rPr lang="en-US" spc="160" dirty="0"/>
              <a:t>based</a:t>
            </a:r>
            <a:r>
              <a:rPr lang="en-US" spc="-80" dirty="0"/>
              <a:t> </a:t>
            </a:r>
            <a:r>
              <a:rPr lang="en-US" spc="135" dirty="0"/>
              <a:t>system</a:t>
            </a:r>
            <a:r>
              <a:rPr lang="en-US" spc="-80" dirty="0"/>
              <a:t> </a:t>
            </a:r>
            <a:r>
              <a:rPr lang="en-US" spc="125" dirty="0"/>
              <a:t>that</a:t>
            </a:r>
            <a:r>
              <a:rPr lang="en-US" spc="-85" dirty="0"/>
              <a:t> </a:t>
            </a:r>
            <a:r>
              <a:rPr lang="en-US" spc="155" dirty="0"/>
              <a:t>makes</a:t>
            </a:r>
            <a:r>
              <a:rPr lang="en-US" spc="-80" dirty="0"/>
              <a:t> </a:t>
            </a:r>
            <a:r>
              <a:rPr lang="en-US" spc="170" dirty="0"/>
              <a:t>resume </a:t>
            </a:r>
            <a:r>
              <a:rPr lang="en-US" spc="135" dirty="0"/>
              <a:t>screening</a:t>
            </a:r>
            <a:r>
              <a:rPr lang="en-US" spc="-85" dirty="0"/>
              <a:t> </a:t>
            </a:r>
            <a:r>
              <a:rPr lang="en-US" spc="85" dirty="0"/>
              <a:t>faster,</a:t>
            </a:r>
            <a:r>
              <a:rPr lang="en-US" spc="-85" dirty="0"/>
              <a:t> </a:t>
            </a:r>
            <a:r>
              <a:rPr lang="en-US" spc="125" dirty="0"/>
              <a:t>smarter,</a:t>
            </a:r>
            <a:r>
              <a:rPr lang="en-US" spc="-80" dirty="0"/>
              <a:t> </a:t>
            </a:r>
            <a:r>
              <a:rPr lang="en-US" spc="180" dirty="0"/>
              <a:t>and</a:t>
            </a:r>
            <a:r>
              <a:rPr lang="en-US" spc="-85" dirty="0"/>
              <a:t> </a:t>
            </a:r>
            <a:r>
              <a:rPr lang="en-US" spc="204" dirty="0"/>
              <a:t>more</a:t>
            </a:r>
            <a:r>
              <a:rPr lang="en-US" spc="-80" dirty="0"/>
              <a:t> </a:t>
            </a:r>
            <a:r>
              <a:rPr lang="en-US" spc="105" dirty="0"/>
              <a:t>accurate. </a:t>
            </a:r>
            <a:r>
              <a:rPr lang="en-US" spc="-50" dirty="0"/>
              <a:t>It</a:t>
            </a:r>
            <a:r>
              <a:rPr lang="en-US" spc="-80" dirty="0"/>
              <a:t> </a:t>
            </a:r>
            <a:r>
              <a:rPr lang="en-US" spc="135" dirty="0"/>
              <a:t>automatically</a:t>
            </a:r>
            <a:r>
              <a:rPr lang="en-US" spc="-85" dirty="0"/>
              <a:t> </a:t>
            </a:r>
            <a:r>
              <a:rPr lang="en-US" spc="110" dirty="0"/>
              <a:t>extracts </a:t>
            </a:r>
            <a:r>
              <a:rPr lang="en-US" spc="175" dirty="0"/>
              <a:t>important</a:t>
            </a:r>
            <a:r>
              <a:rPr lang="en-US" spc="-80" dirty="0"/>
              <a:t> </a:t>
            </a:r>
            <a:r>
              <a:rPr lang="en-US" spc="170" dirty="0"/>
              <a:t>information</a:t>
            </a:r>
            <a:r>
              <a:rPr lang="en-US" spc="-75" dirty="0"/>
              <a:t> </a:t>
            </a:r>
            <a:r>
              <a:rPr lang="en-US" spc="200" dirty="0"/>
              <a:t>from</a:t>
            </a:r>
            <a:r>
              <a:rPr lang="en-US" spc="-75" dirty="0"/>
              <a:t> </a:t>
            </a:r>
            <a:r>
              <a:rPr lang="en-US" spc="175" dirty="0"/>
              <a:t>resumes</a:t>
            </a:r>
            <a:r>
              <a:rPr lang="en-US" spc="-75" dirty="0"/>
              <a:t> </a:t>
            </a:r>
            <a:r>
              <a:rPr lang="en-US" spc="180" dirty="0"/>
              <a:t>and</a:t>
            </a:r>
            <a:r>
              <a:rPr lang="en-US" spc="-75" dirty="0"/>
              <a:t> </a:t>
            </a:r>
            <a:r>
              <a:rPr lang="en-US" spc="155" dirty="0"/>
              <a:t>matches</a:t>
            </a:r>
            <a:r>
              <a:rPr lang="en-US" spc="-75" dirty="0"/>
              <a:t> </a:t>
            </a:r>
            <a:r>
              <a:rPr lang="en-US" spc="185" dirty="0"/>
              <a:t>them</a:t>
            </a:r>
            <a:r>
              <a:rPr lang="en-US" spc="-75" dirty="0"/>
              <a:t> </a:t>
            </a:r>
            <a:r>
              <a:rPr lang="en-US" spc="135" dirty="0"/>
              <a:t>with</a:t>
            </a:r>
            <a:r>
              <a:rPr lang="en-US" spc="-75" dirty="0"/>
              <a:t> </a:t>
            </a:r>
            <a:r>
              <a:rPr lang="en-US" spc="90" dirty="0"/>
              <a:t>job </a:t>
            </a:r>
            <a:r>
              <a:rPr lang="en-US" spc="170" dirty="0"/>
              <a:t>requirements</a:t>
            </a:r>
            <a:r>
              <a:rPr lang="en-US" spc="-90" dirty="0"/>
              <a:t> </a:t>
            </a:r>
            <a:r>
              <a:rPr lang="en-US" spc="130" dirty="0"/>
              <a:t>using</a:t>
            </a:r>
            <a:r>
              <a:rPr lang="en-US" spc="-85" dirty="0"/>
              <a:t> </a:t>
            </a:r>
            <a:r>
              <a:rPr lang="en-US" dirty="0"/>
              <a:t>AI</a:t>
            </a:r>
            <a:r>
              <a:rPr lang="en-US" spc="-85" dirty="0"/>
              <a:t> </a:t>
            </a:r>
            <a:r>
              <a:rPr lang="en-US" spc="180" dirty="0"/>
              <a:t>and</a:t>
            </a:r>
            <a:r>
              <a:rPr lang="en-US" spc="-85" dirty="0"/>
              <a:t> </a:t>
            </a:r>
            <a:r>
              <a:rPr lang="en-US" spc="120" dirty="0"/>
              <a:t>NLP.</a:t>
            </a:r>
            <a:r>
              <a:rPr lang="en-US" spc="-85" dirty="0"/>
              <a:t> </a:t>
            </a:r>
            <a:r>
              <a:rPr lang="en-US" spc="90" dirty="0"/>
              <a:t>This</a:t>
            </a:r>
            <a:r>
              <a:rPr lang="en-US" spc="-85" dirty="0"/>
              <a:t> </a:t>
            </a:r>
            <a:r>
              <a:rPr lang="en-US" spc="135" dirty="0"/>
              <a:t>system</a:t>
            </a:r>
            <a:r>
              <a:rPr lang="en-US" spc="-85" dirty="0"/>
              <a:t> </a:t>
            </a:r>
            <a:r>
              <a:rPr lang="en-US" spc="155" dirty="0"/>
              <a:t>reduces</a:t>
            </a:r>
            <a:r>
              <a:rPr lang="en-US" spc="-85" dirty="0"/>
              <a:t> </a:t>
            </a:r>
            <a:r>
              <a:rPr lang="en-US" spc="180" dirty="0"/>
              <a:t>manual</a:t>
            </a:r>
            <a:r>
              <a:rPr lang="en-US" spc="-85" dirty="0"/>
              <a:t> </a:t>
            </a:r>
            <a:r>
              <a:rPr lang="en-US" spc="95" dirty="0"/>
              <a:t>effort,</a:t>
            </a:r>
            <a:r>
              <a:rPr lang="en-US" spc="-85" dirty="0"/>
              <a:t> </a:t>
            </a:r>
            <a:r>
              <a:rPr lang="en-US" spc="85" dirty="0"/>
              <a:t>saves </a:t>
            </a:r>
            <a:r>
              <a:rPr lang="en-US" spc="95" dirty="0"/>
              <a:t>time,</a:t>
            </a:r>
            <a:r>
              <a:rPr lang="en-US" spc="-80" dirty="0"/>
              <a:t> </a:t>
            </a:r>
            <a:r>
              <a:rPr lang="en-US" spc="180" dirty="0"/>
              <a:t>and</a:t>
            </a:r>
            <a:r>
              <a:rPr lang="en-US" spc="-80" dirty="0"/>
              <a:t> </a:t>
            </a:r>
            <a:r>
              <a:rPr lang="en-US" spc="155" dirty="0"/>
              <a:t>helps</a:t>
            </a:r>
            <a:r>
              <a:rPr lang="en-US" spc="-75" dirty="0"/>
              <a:t> </a:t>
            </a:r>
            <a:r>
              <a:rPr lang="en-US" spc="145" dirty="0"/>
              <a:t>recruiters</a:t>
            </a:r>
            <a:r>
              <a:rPr lang="en-US" spc="-80" dirty="0"/>
              <a:t> </a:t>
            </a:r>
            <a:r>
              <a:rPr lang="en-US" spc="155" dirty="0"/>
              <a:t>find</a:t>
            </a:r>
            <a:r>
              <a:rPr lang="en-US" spc="-80" dirty="0"/>
              <a:t> </a:t>
            </a:r>
            <a:r>
              <a:rPr lang="en-US" spc="140" dirty="0"/>
              <a:t>the</a:t>
            </a:r>
            <a:r>
              <a:rPr lang="en-US" spc="-75" dirty="0"/>
              <a:t> </a:t>
            </a:r>
            <a:r>
              <a:rPr lang="en-US" spc="120" dirty="0"/>
              <a:t>right</a:t>
            </a:r>
            <a:r>
              <a:rPr lang="en-US" spc="-80" dirty="0"/>
              <a:t> </a:t>
            </a:r>
            <a:r>
              <a:rPr lang="en-US" spc="145" dirty="0"/>
              <a:t>candidates</a:t>
            </a:r>
            <a:r>
              <a:rPr lang="en-US" spc="-75" dirty="0"/>
              <a:t> </a:t>
            </a:r>
            <a:r>
              <a:rPr lang="en-US" spc="75" dirty="0"/>
              <a:t>easily.</a:t>
            </a:r>
            <a:r>
              <a:rPr lang="en-US" spc="-80" dirty="0"/>
              <a:t> </a:t>
            </a:r>
            <a:r>
              <a:rPr lang="en-US" spc="100" dirty="0"/>
              <a:t>Overall,</a:t>
            </a:r>
            <a:r>
              <a:rPr lang="en-US" spc="-80" dirty="0"/>
              <a:t> </a:t>
            </a:r>
            <a:r>
              <a:rPr lang="en-US" spc="55" dirty="0"/>
              <a:t>it </a:t>
            </a:r>
            <a:r>
              <a:rPr lang="en-US" spc="165" dirty="0"/>
              <a:t>improves</a:t>
            </a:r>
            <a:r>
              <a:rPr lang="en-US" spc="-80" dirty="0"/>
              <a:t> </a:t>
            </a:r>
            <a:r>
              <a:rPr lang="en-US" spc="140" dirty="0"/>
              <a:t>the</a:t>
            </a:r>
            <a:r>
              <a:rPr lang="en-US" spc="-75" dirty="0"/>
              <a:t> </a:t>
            </a:r>
            <a:r>
              <a:rPr lang="en-US" spc="160" dirty="0"/>
              <a:t>recruitment</a:t>
            </a:r>
            <a:r>
              <a:rPr lang="en-US" spc="-75" dirty="0"/>
              <a:t> </a:t>
            </a:r>
            <a:r>
              <a:rPr lang="en-US" spc="155" dirty="0"/>
              <a:t>process</a:t>
            </a:r>
            <a:r>
              <a:rPr lang="en-US" spc="-75" dirty="0"/>
              <a:t> </a:t>
            </a:r>
            <a:r>
              <a:rPr lang="en-US" spc="180" dirty="0"/>
              <a:t>and</a:t>
            </a:r>
            <a:r>
              <a:rPr lang="en-US" spc="-75" dirty="0"/>
              <a:t> </a:t>
            </a:r>
            <a:r>
              <a:rPr lang="en-US" spc="155" dirty="0"/>
              <a:t>makes</a:t>
            </a:r>
            <a:r>
              <a:rPr lang="en-US" spc="-75" dirty="0"/>
              <a:t> </a:t>
            </a:r>
            <a:r>
              <a:rPr lang="en-US" spc="80" dirty="0"/>
              <a:t>it</a:t>
            </a:r>
            <a:r>
              <a:rPr lang="en-US" spc="-75" dirty="0"/>
              <a:t> </a:t>
            </a:r>
            <a:r>
              <a:rPr lang="en-US" spc="204" dirty="0"/>
              <a:t>more</a:t>
            </a:r>
            <a:r>
              <a:rPr lang="en-US" spc="-80" dirty="0"/>
              <a:t> </a:t>
            </a:r>
            <a:r>
              <a:rPr lang="en-US" spc="85" dirty="0"/>
              <a:t>efficient.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ENHANCEMENTS</a:t>
            </a:r>
          </a:p>
        </p:txBody>
      </p:sp>
      <p:sp>
        <p:nvSpPr>
          <p:cNvPr id="8" name="object 8">
            <a:extLst>
              <a:ext uri="{FF2B5EF4-FFF2-40B4-BE49-F238E27FC236}">
                <a16:creationId xmlns:a16="http://schemas.microsoft.com/office/drawing/2014/main" id="{9814D952-354C-07C0-AA27-A9B42AAF7342}"/>
              </a:ext>
            </a:extLst>
          </p:cNvPr>
          <p:cNvSpPr txBox="1">
            <a:spLocks noGrp="1"/>
          </p:cNvSpPr>
          <p:nvPr>
            <p:ph idx="1"/>
          </p:nvPr>
        </p:nvSpPr>
        <p:spPr>
          <a:xfrm>
            <a:off x="457200" y="1417638"/>
            <a:ext cx="8686800" cy="4136261"/>
          </a:xfrm>
          <a:prstGeom prst="rect">
            <a:avLst/>
          </a:prstGeom>
        </p:spPr>
        <p:txBody>
          <a:bodyPr vert="horz" wrap="square" lIns="0" tIns="12065" rIns="0" bIns="0" rtlCol="0">
            <a:spAutoFit/>
          </a:bodyPr>
          <a:lstStyle/>
          <a:p>
            <a:pPr marR="786130">
              <a:lnSpc>
                <a:spcPct val="125000"/>
              </a:lnSpc>
              <a:spcBef>
                <a:spcPts val="95"/>
              </a:spcBef>
            </a:pPr>
            <a:r>
              <a:rPr lang="en-US" sz="2600" dirty="0">
                <a:latin typeface="Tahoma"/>
                <a:cs typeface="Tahoma"/>
              </a:rPr>
              <a:t> </a:t>
            </a:r>
            <a:r>
              <a:rPr lang="en-US" sz="1800" dirty="0">
                <a:latin typeface="Tahoma"/>
                <a:cs typeface="Tahoma"/>
              </a:rPr>
              <a:t>AI Interview Bot Integration: Add an AI chatbot to conduct initial screening interviews based on the resume content.</a:t>
            </a:r>
          </a:p>
          <a:p>
            <a:pPr marR="786130">
              <a:lnSpc>
                <a:spcPct val="125000"/>
              </a:lnSpc>
              <a:spcBef>
                <a:spcPts val="95"/>
              </a:spcBef>
            </a:pPr>
            <a:r>
              <a:rPr lang="en-US" sz="1800" dirty="0">
                <a:latin typeface="Tahoma"/>
                <a:cs typeface="Tahoma"/>
              </a:rPr>
              <a:t>Voice Resume Parser: Allow candidates to record voice introductions, and the system can analyze tone, clarity, and confidence. </a:t>
            </a:r>
          </a:p>
          <a:p>
            <a:pPr marR="786130">
              <a:lnSpc>
                <a:spcPct val="125000"/>
              </a:lnSpc>
              <a:spcBef>
                <a:spcPts val="95"/>
              </a:spcBef>
            </a:pPr>
            <a:r>
              <a:rPr lang="en-US" sz="1800" dirty="0">
                <a:latin typeface="Tahoma"/>
                <a:cs typeface="Tahoma"/>
              </a:rPr>
              <a:t>Fraud Detection System: Use AI to detect fake or copied resume content by comparing it with global resume databases.</a:t>
            </a:r>
          </a:p>
          <a:p>
            <a:pPr marR="786130">
              <a:lnSpc>
                <a:spcPct val="125000"/>
              </a:lnSpc>
              <a:spcBef>
                <a:spcPts val="95"/>
              </a:spcBef>
            </a:pPr>
            <a:r>
              <a:rPr lang="en-US" sz="1800" dirty="0">
                <a:latin typeface="Tahoma"/>
                <a:cs typeface="Tahoma"/>
              </a:rPr>
              <a:t>Emotional Tone Analysis: Analyze the writing tone of resumes (formal, confident, confused) to help recruiters understand personality traits.</a:t>
            </a:r>
          </a:p>
          <a:p>
            <a:pPr marR="786130">
              <a:lnSpc>
                <a:spcPct val="125000"/>
              </a:lnSpc>
              <a:spcBef>
                <a:spcPts val="95"/>
              </a:spcBef>
            </a:pPr>
            <a:r>
              <a:rPr lang="en-US" sz="1800" dirty="0">
                <a:latin typeface="Tahoma"/>
                <a:cs typeface="Tahoma"/>
              </a:rPr>
              <a:t>Diversity and Inclusion Check: Ensure unbiased shortlisting by checking for gender-neutral language and inclusive hiring.</a:t>
            </a:r>
          </a:p>
          <a:p>
            <a:pPr marR="786130">
              <a:lnSpc>
                <a:spcPct val="125000"/>
              </a:lnSpc>
              <a:spcBef>
                <a:spcPts val="95"/>
              </a:spcBef>
            </a:pPr>
            <a:endParaRPr sz="2600" dirty="0">
              <a:latin typeface="Tahoma"/>
              <a:cs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fontScale="77500" lnSpcReduction="20000"/>
          </a:bodyPr>
          <a:lstStyle/>
          <a:p>
            <a:r>
              <a:rPr lang="en-US" dirty="0"/>
              <a:t>Research Paper: "Automated Resume Screening using Natural Language Processing" – IEEE, 20212. </a:t>
            </a:r>
          </a:p>
          <a:p>
            <a:r>
              <a:rPr lang="en-US" dirty="0" err="1"/>
              <a:t>spaCy</a:t>
            </a:r>
            <a:r>
              <a:rPr lang="en-US" dirty="0"/>
              <a:t> Documentation – </a:t>
            </a:r>
            <a:r>
              <a:rPr lang="en-US" dirty="0">
                <a:hlinkClick r:id="rId2"/>
              </a:rPr>
              <a:t>https://spacy.io/</a:t>
            </a:r>
            <a:endParaRPr lang="en-US" dirty="0"/>
          </a:p>
          <a:p>
            <a:r>
              <a:rPr lang="en-US" dirty="0"/>
              <a:t> </a:t>
            </a:r>
            <a:r>
              <a:rPr lang="en-US" dirty="0" err="1"/>
              <a:t>PyMuPDF</a:t>
            </a:r>
            <a:r>
              <a:rPr lang="en-US" dirty="0"/>
              <a:t> Documentation – </a:t>
            </a:r>
            <a:r>
              <a:rPr lang="en-US" dirty="0">
                <a:hlinkClick r:id="rId3"/>
              </a:rPr>
              <a:t>https://pymupdf.readthedocs.io/</a:t>
            </a:r>
            <a:endParaRPr lang="en-US" dirty="0"/>
          </a:p>
          <a:p>
            <a:r>
              <a:rPr lang="en-US" dirty="0"/>
              <a:t> NLTK (Natural Language Toolkit) – </a:t>
            </a:r>
            <a:r>
              <a:rPr lang="en-US" dirty="0">
                <a:hlinkClick r:id="rId4"/>
              </a:rPr>
              <a:t>https://www.nltk.org/</a:t>
            </a:r>
            <a:endParaRPr lang="en-US" dirty="0"/>
          </a:p>
          <a:p>
            <a:r>
              <a:rPr lang="en-US" dirty="0"/>
              <a:t> Flask Documentation – </a:t>
            </a:r>
            <a:r>
              <a:rPr lang="en-US" dirty="0">
                <a:hlinkClick r:id="rId5"/>
              </a:rPr>
              <a:t>https://flask.palletsprojects.com/</a:t>
            </a:r>
            <a:endParaRPr lang="en-US" dirty="0"/>
          </a:p>
          <a:p>
            <a:r>
              <a:rPr lang="en-US" dirty="0"/>
              <a:t>"Machine Learning for Resume Screening" – International Journal of Computer Applications, 2020</a:t>
            </a:r>
          </a:p>
          <a:p>
            <a:r>
              <a:rPr lang="en-US" dirty="0"/>
              <a:t> Various online tutorials and GitHub repositories related to AI-based resume parsing and NLP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solidFill>
                  <a:srgbClr val="FFFFFF"/>
                </a:solidFill>
              </a:rPr>
              <a:t>HUMANEXA: Enterprise Social Impact Platform</a:t>
            </a:r>
          </a:p>
        </p:txBody>
      </p:sp>
      <p:sp>
        <p:nvSpPr>
          <p:cNvPr id="3" name="Subtitle 2"/>
          <p:cNvSpPr>
            <a:spLocks noGrp="1"/>
          </p:cNvSpPr>
          <p:nvPr>
            <p:ph type="subTitle" idx="1"/>
          </p:nvPr>
        </p:nvSpPr>
        <p:spPr/>
        <p:txBody>
          <a:bodyPr/>
          <a:lstStyle/>
          <a:p>
            <a:r>
              <a:rPr>
                <a:solidFill>
                  <a:srgbClr val="FFFFFF"/>
                </a:solidFill>
              </a:rPr>
              <a:t>AI-Powered Transparency &amp; Accountability in Charity</a:t>
            </a:r>
          </a:p>
          <a:p/>
          <a:p>
            <a:r>
              <a:rPr>
                <a:solidFill>
                  <a:srgbClr val="FFFFFF"/>
                </a:solidFill>
              </a:rPr>
              <a:t>Submitted by:</a:t>
            </a:r>
          </a:p>
          <a:p>
            <a:r>
              <a:rPr>
                <a:solidFill>
                  <a:srgbClr val="FFFFFF"/>
                </a:solidFill>
              </a:rPr>
              <a:t>GOKUL M &amp; TEAM</a:t>
            </a:r>
          </a:p>
          <a:p>
            <a:r>
              <a:rPr>
                <a:solidFill>
                  <a:srgbClr val="FFFFFF"/>
                </a:solidFill>
              </a:rPr>
              <a:t>Department of AI &amp; Data Science</a:t>
            </a:r>
          </a:p>
          <a:p>
            <a:r>
              <a:rPr>
                <a:solidFill>
                  <a:srgbClr val="FFFFFF"/>
                </a:solidFill>
              </a:rPr>
              <a:t>Excel Engineering College</a:t>
            </a:r>
          </a:p>
        </p:txBody>
      </p:sp>
      <p:pic>
        <p:nvPicPr>
          <p:cNvPr id="4" name="Picture 3" descr="humanexa_hero_image_1777122809359.png"/>
          <p:cNvPicPr>
            <a:picLocks noChangeAspect="1"/>
          </p:cNvPicPr>
          <p:nvPr/>
        </p:nvPicPr>
        <p:blipFill>
          <a:blip r:embed="rId2"/>
          <a:stretch>
            <a:fillRect/>
          </a:stretch>
        </p:blipFill>
        <p:spPr>
          <a:xfrm>
            <a:off x="0" y="0"/>
            <a:ext cx="9144000" cy="9144000"/>
          </a:xfrm>
          <a:prstGeom prst="rect">
            <a:avLst/>
          </a:prstGeom>
        </p:spPr>
      </p:pic>
      <p:pic>
        <p:nvPicPr>
          <p:cNvPr id="5" name="Picture 4" descr="19-11_07-Anna_University_Logo.svg.jpg"/>
          <p:cNvPicPr>
            <a:picLocks noChangeAspect="1"/>
          </p:cNvPicPr>
          <p:nvPr/>
        </p:nvPicPr>
        <p:blipFill>
          <a:blip r:embed="rId3"/>
          <a:stretch>
            <a:fillRect/>
          </a:stretch>
        </p:blipFill>
        <p:spPr>
          <a:xfrm>
            <a:off x="182880" y="182880"/>
            <a:ext cx="920537" cy="914400"/>
          </a:xfrm>
          <a:prstGeom prst="rect">
            <a:avLst/>
          </a:prstGeom>
        </p:spPr>
      </p:pic>
      <p:pic>
        <p:nvPicPr>
          <p:cNvPr id="6" name="Picture 5" descr="Excel College Logo.png"/>
          <p:cNvPicPr>
            <a:picLocks noChangeAspect="1"/>
          </p:cNvPicPr>
          <p:nvPr/>
        </p:nvPicPr>
        <p:blipFill>
          <a:blip r:embed="rId4"/>
          <a:stretch>
            <a:fillRect/>
          </a:stretch>
        </p:blipFill>
        <p:spPr>
          <a:xfrm>
            <a:off x="7772400" y="182880"/>
            <a:ext cx="803153" cy="9144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Humanexa is a next-generation social impact ecosystem.</a:t>
            </a:r>
          </a:p>
          <a:p>
            <a:r>
              <a:t>It leverages AI and real-time tracking to bridge the gap between donors and those in need.</a:t>
            </a:r>
          </a:p>
          <a:p>
            <a:r>
              <a:t>Core Vision: Eliminating charity fraud and ensuring 100% transparency in contributions.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Charity Fraud: Global rise in forged aid requests.</a:t>
            </a:r>
          </a:p>
          <a:p>
            <a:r>
              <a:t>Lack of Transparency: Donors cannot track the exact destination of their funds.</a:t>
            </a:r>
          </a:p>
          <a:p>
            <a:r>
              <a:t>Fragmented Ecosystem: Separate platforms for blood donation, NGO discovery, and volunteerism.</a:t>
            </a:r>
          </a:p>
          <a:p>
            <a:r>
              <a:t>Inefficient Verification: Manual validation processes are slow and prone to error.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Existing System</a:t>
            </a:r>
          </a:p>
        </p:txBody>
      </p:sp>
      <p:sp>
        <p:nvSpPr>
          <p:cNvPr id="3" name="Content Placeholder 2"/>
          <p:cNvSpPr>
            <a:spLocks noGrp="1"/>
          </p:cNvSpPr>
          <p:nvPr>
            <p:ph idx="1"/>
          </p:nvPr>
        </p:nvSpPr>
        <p:spPr/>
        <p:txBody>
          <a:bodyPr/>
          <a:lstStyle/>
          <a:p>
            <a:r>
              <a:t>Manual Processes: reliance on social media groups and offline coordination.</a:t>
            </a:r>
          </a:p>
          <a:p>
            <a:r>
              <a:t>Verification Gaps: No automated way to verify 'Proof of Help'.</a:t>
            </a:r>
          </a:p>
          <a:p>
            <a:r>
              <a:t>Trust Deficit: Donors often hesitate due to uncertainty of impact.</a:t>
            </a:r>
          </a:p>
          <a:p>
            <a:r>
              <a:t>Delayed Emergencies: Fragmented data leads to slow response in critical times (e.g., Blood needs).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Agile Development: Iterative building of core modules.</a:t>
            </a:r>
          </a:p>
          <a:p>
            <a:r>
              <a:t>System Architecture: MERN stack (MongoDB, Express, React, Node) + Python FastAPI for AI.</a:t>
            </a:r>
          </a:p>
          <a:p>
            <a:r>
              <a:t>AI Verification Engine: Using Computer Vision for fraud detection and face blurring.</a:t>
            </a:r>
          </a:p>
          <a:p>
            <a:r>
              <a:t>Security Protocols: JWT authentication and Role-Based Access Control (RBAC).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System: HUMANEXA</a:t>
            </a:r>
          </a:p>
        </p:txBody>
      </p:sp>
      <p:sp>
        <p:nvSpPr>
          <p:cNvPr id="3" name="Content Placeholder 2"/>
          <p:cNvSpPr>
            <a:spLocks noGrp="1"/>
          </p:cNvSpPr>
          <p:nvPr>
            <p:ph idx="1"/>
          </p:nvPr>
        </p:nvSpPr>
        <p:spPr/>
        <p:txBody>
          <a:bodyPr/>
          <a:lstStyle/>
          <a:p>
            <a:r>
              <a:t>Integrated Platform: A unified hub for Donors, Helpers, and Institutions.</a:t>
            </a:r>
          </a:p>
          <a:p>
            <a:r>
              <a:t>AI-Powered Verification: Automated analysis of proof images to prevent fraud.</a:t>
            </a:r>
          </a:p>
          <a:p>
            <a:r>
              <a:t>Blockchain-Inspired Audit Logs: Immutable records of all transactions and aid acts.</a:t>
            </a:r>
          </a:p>
          <a:p>
            <a:r>
              <a:t>Real-Time Transparency: Live impact maps and verification status for every donation.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Frontend: React 18, TypeScript, Vite, Tailwind CSS.</a:t>
            </a:r>
          </a:p>
          <a:p>
            <a:r>
              <a:t>Backend: Node.js (Express), MongoDB, Redis (Queue Management).</a:t>
            </a:r>
          </a:p>
          <a:p>
            <a:r>
              <a:t>AI Service: Python FastAPI, TensorFlow/OpenCV (Fraud Detection).</a:t>
            </a:r>
          </a:p>
          <a:p>
            <a:r>
              <a:t>Cloud/Infrastructure: AWS S3, SES, SNS for global scalability.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Modules</a:t>
            </a:r>
          </a:p>
        </p:txBody>
      </p:sp>
      <p:sp>
        <p:nvSpPr>
          <p:cNvPr id="3" name="Content Placeholder 2"/>
          <p:cNvSpPr>
            <a:spLocks noGrp="1"/>
          </p:cNvSpPr>
          <p:nvPr>
            <p:ph idx="1"/>
          </p:nvPr>
        </p:nvSpPr>
        <p:spPr/>
        <p:txBody>
          <a:bodyPr/>
          <a:lstStyle/>
          <a:p>
            <a:r>
              <a:t>Emergency Assistance: Real-time SOS for blood and medical aid.</a:t>
            </a:r>
          </a:p>
          <a:p>
            <a:r>
              <a:t>Institution Discovery: Geo-spatial search for nearby NGOs and Shelters.</a:t>
            </a:r>
          </a:p>
          <a:p>
            <a:r>
              <a:t>Live Impact Ticker: Real-time verification feed of ongoing help.</a:t>
            </a:r>
          </a:p>
          <a:p>
            <a:r>
              <a:t>Admin Dashboard: Comprehensive control and analytics for the platform.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Premium Certificate System</a:t>
            </a:r>
          </a:p>
        </p:txBody>
      </p:sp>
      <p:sp>
        <p:nvSpPr>
          <p:cNvPr id="3" name="Content Placeholder 2"/>
          <p:cNvSpPr>
            <a:spLocks noGrp="1"/>
          </p:cNvSpPr>
          <p:nvPr>
            <p:ph idx="1" sz="half"/>
          </p:nvPr>
        </p:nvSpPr>
        <p:spPr/>
        <p:txBody>
          <a:bodyPr/>
          <a:lstStyle/>
          <a:p>
            <a:r>
              <a:t>Tiered Recognition:</a:t>
            </a:r>
          </a:p>
          <a:p>
            <a:r>
              <a:t>- Welcome</a:t>
            </a:r>
          </a:p>
          <a:p>
            <a:r>
              <a:t>- Bronze</a:t>
            </a:r>
          </a:p>
          <a:p>
            <a:r>
              <a:t>- Silver</a:t>
            </a:r>
          </a:p>
          <a:p>
            <a:r>
              <a:t>- Gold</a:t>
            </a:r>
          </a:p>
          <a:p>
            <a:r>
              <a:t>- Platinum</a:t>
            </a:r>
          </a:p>
          <a:p>
            <a:r>
              <a:t>- Diamond</a:t>
            </a:r>
          </a:p>
        </p:txBody>
      </p:sp>
      <p:sp>
        <p:nvSpPr>
          <p:cNvPr id="4" name="Content Placeholder 3"/>
          <p:cNvSpPr>
            <a:spLocks noGrp="1"/>
          </p:cNvSpPr>
          <p:nvPr>
            <p:ph idx="2" sz="half"/>
          </p:nvPr>
        </p:nvSpPr>
        <p:spPr/>
        <p:txBody>
          <a:bodyPr/>
          <a:lstStyle/>
          <a:p>
            <a:r>
              <a:t>Features:</a:t>
            </a:r>
          </a:p>
          <a:p>
            <a:r>
              <a:t>- 300 DPI Export</a:t>
            </a:r>
          </a:p>
          <a:p>
            <a:r>
              <a:t>- QR Verification</a:t>
            </a:r>
          </a:p>
          <a:p>
            <a:r>
              <a:t>- Blockchain Metadata</a:t>
            </a:r>
          </a:p>
          <a:p>
            <a:r>
              <a:t>- Museum-Grade Aesthetic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Highlights</a:t>
            </a:r>
          </a:p>
        </p:txBody>
      </p:sp>
      <p:sp>
        <p:nvSpPr>
          <p:cNvPr id="3" name="Content Placeholder 2"/>
          <p:cNvSpPr>
            <a:spLocks noGrp="1"/>
          </p:cNvSpPr>
          <p:nvPr>
            <p:ph idx="1"/>
          </p:nvPr>
        </p:nvSpPr>
        <p:spPr/>
        <p:txBody>
          <a:bodyPr/>
          <a:lstStyle/>
          <a:p>
            <a:r>
              <a:t>Privacy First: Automated face blurring in help proof images.</a:t>
            </a:r>
          </a:p>
          <a:p>
            <a:r>
              <a:t>Performance: Vite-powered frontend for sub-second load times.</a:t>
            </a:r>
          </a:p>
          <a:p>
            <a:r>
              <a:t>Transparency: Every aid act has a public verification link.</a:t>
            </a:r>
          </a:p>
          <a:p>
            <a:r>
              <a:t>Scalability: Dockerized microservices ready for cloud deployment.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png"/>
          <p:cNvPicPr>
            <a:picLocks noChangeAspect="1"/>
          </p:cNvPicPr>
          <p:nvPr/>
        </p:nvPicPr>
        <p:blipFill>
          <a:blip r:embed="rId2"/>
          <a:stretch>
            <a:fillRect/>
          </a:stretch>
        </p:blipFill>
        <p:spPr>
          <a:xfrm>
            <a:off x="457200" y="914400"/>
            <a:ext cx="8229600" cy="4247812"/>
          </a:xfrm>
          <a:prstGeom prst="rect">
            <a:avLst/>
          </a:prstGeom>
        </p:spPr>
      </p:pic>
      <p:sp>
        <p:nvSpPr>
          <p:cNvPr id="3" name="TextBox 2"/>
          <p:cNvSpPr txBox="1"/>
          <p:nvPr/>
        </p:nvSpPr>
        <p:spPr>
          <a:xfrm>
            <a:off x="457200" y="274320"/>
            <a:ext cx="8229600" cy="457200"/>
          </a:xfrm>
          <a:prstGeom prst="rect">
            <a:avLst/>
          </a:prstGeom>
          <a:noFill/>
        </p:spPr>
        <p:txBody>
          <a:bodyPr wrap="none">
            <a:spAutoFit/>
          </a:bodyPr>
          <a:lstStyle/>
          <a:p>
            <a:pPr algn="ctr">
              <a:defRPr sz="2400" b="1"/>
            </a:pPr>
            <a:r>
              <a:t>Result: Landing Page: Verified Impact Platform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png"/>
          <p:cNvPicPr>
            <a:picLocks noChangeAspect="1"/>
          </p:cNvPicPr>
          <p:nvPr/>
        </p:nvPicPr>
        <p:blipFill>
          <a:blip r:embed="rId2"/>
          <a:stretch>
            <a:fillRect/>
          </a:stretch>
        </p:blipFill>
        <p:spPr>
          <a:xfrm>
            <a:off x="457200" y="914400"/>
            <a:ext cx="8229600" cy="4204905"/>
          </a:xfrm>
          <a:prstGeom prst="rect">
            <a:avLst/>
          </a:prstGeom>
        </p:spPr>
      </p:pic>
      <p:sp>
        <p:nvSpPr>
          <p:cNvPr id="3" name="TextBox 2"/>
          <p:cNvSpPr txBox="1"/>
          <p:nvPr/>
        </p:nvSpPr>
        <p:spPr>
          <a:xfrm>
            <a:off x="457200" y="274320"/>
            <a:ext cx="8229600" cy="457200"/>
          </a:xfrm>
          <a:prstGeom prst="rect">
            <a:avLst/>
          </a:prstGeom>
          <a:noFill/>
        </p:spPr>
        <p:txBody>
          <a:bodyPr wrap="none">
            <a:spAutoFit/>
          </a:bodyPr>
          <a:lstStyle/>
          <a:p>
            <a:pPr algn="ctr">
              <a:defRPr sz="2400" b="1"/>
            </a:pPr>
            <a:r>
              <a:t>Result: Donor Dashboard: Real-time Impact Metrics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png"/>
          <p:cNvPicPr>
            <a:picLocks noChangeAspect="1"/>
          </p:cNvPicPr>
          <p:nvPr/>
        </p:nvPicPr>
        <p:blipFill>
          <a:blip r:embed="rId2"/>
          <a:stretch>
            <a:fillRect/>
          </a:stretch>
        </p:blipFill>
        <p:spPr>
          <a:xfrm>
            <a:off x="457200" y="914400"/>
            <a:ext cx="8229600" cy="4217777"/>
          </a:xfrm>
          <a:prstGeom prst="rect">
            <a:avLst/>
          </a:prstGeom>
        </p:spPr>
      </p:pic>
      <p:sp>
        <p:nvSpPr>
          <p:cNvPr id="3" name="TextBox 2"/>
          <p:cNvSpPr txBox="1"/>
          <p:nvPr/>
        </p:nvSpPr>
        <p:spPr>
          <a:xfrm>
            <a:off x="457200" y="274320"/>
            <a:ext cx="8229600" cy="457200"/>
          </a:xfrm>
          <a:prstGeom prst="rect">
            <a:avLst/>
          </a:prstGeom>
          <a:noFill/>
        </p:spPr>
        <p:txBody>
          <a:bodyPr wrap="none">
            <a:spAutoFit/>
          </a:bodyPr>
          <a:lstStyle/>
          <a:p>
            <a:pPr algn="ctr">
              <a:defRPr sz="2400" b="1"/>
            </a:pPr>
            <a:r>
              <a:t>Result: Institution Discovery Portal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png"/>
          <p:cNvPicPr>
            <a:picLocks noChangeAspect="1"/>
          </p:cNvPicPr>
          <p:nvPr/>
        </p:nvPicPr>
        <p:blipFill>
          <a:blip r:embed="rId2"/>
          <a:stretch>
            <a:fillRect/>
          </a:stretch>
        </p:blipFill>
        <p:spPr>
          <a:xfrm>
            <a:off x="457200" y="914400"/>
            <a:ext cx="8229600" cy="4213487"/>
          </a:xfrm>
          <a:prstGeom prst="rect">
            <a:avLst/>
          </a:prstGeom>
        </p:spPr>
      </p:pic>
      <p:sp>
        <p:nvSpPr>
          <p:cNvPr id="3" name="TextBox 2"/>
          <p:cNvSpPr txBox="1"/>
          <p:nvPr/>
        </p:nvSpPr>
        <p:spPr>
          <a:xfrm>
            <a:off x="457200" y="274320"/>
            <a:ext cx="8229600" cy="457200"/>
          </a:xfrm>
          <a:prstGeom prst="rect">
            <a:avLst/>
          </a:prstGeom>
          <a:noFill/>
        </p:spPr>
        <p:txBody>
          <a:bodyPr wrap="none">
            <a:spAutoFit/>
          </a:bodyPr>
          <a:lstStyle/>
          <a:p>
            <a:pPr algn="ctr">
              <a:defRPr sz="2400" b="1"/>
            </a:pPr>
            <a:r>
              <a:t>Result: Emergency Alerts: Accepted &amp; Resolved SOS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png"/>
          <p:cNvPicPr>
            <a:picLocks noChangeAspect="1"/>
          </p:cNvPicPr>
          <p:nvPr/>
        </p:nvPicPr>
        <p:blipFill>
          <a:blip r:embed="rId2"/>
          <a:stretch>
            <a:fillRect/>
          </a:stretch>
        </p:blipFill>
        <p:spPr>
          <a:xfrm>
            <a:off x="457200" y="914400"/>
            <a:ext cx="8229600" cy="4222180"/>
          </a:xfrm>
          <a:prstGeom prst="rect">
            <a:avLst/>
          </a:prstGeom>
        </p:spPr>
      </p:pic>
      <p:sp>
        <p:nvSpPr>
          <p:cNvPr id="3" name="TextBox 2"/>
          <p:cNvSpPr txBox="1"/>
          <p:nvPr/>
        </p:nvSpPr>
        <p:spPr>
          <a:xfrm>
            <a:off x="457200" y="274320"/>
            <a:ext cx="8229600" cy="457200"/>
          </a:xfrm>
          <a:prstGeom prst="rect">
            <a:avLst/>
          </a:prstGeom>
          <a:noFill/>
        </p:spPr>
        <p:txBody>
          <a:bodyPr wrap="none">
            <a:spAutoFit/>
          </a:bodyPr>
          <a:lstStyle/>
          <a:p>
            <a:pPr algn="ctr">
              <a:defRPr sz="2400" b="1"/>
            </a:pPr>
            <a:r>
              <a:t>Result: Helper Verification Interface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6.png"/>
          <p:cNvPicPr>
            <a:picLocks noChangeAspect="1"/>
          </p:cNvPicPr>
          <p:nvPr/>
        </p:nvPicPr>
        <p:blipFill>
          <a:blip r:embed="rId2"/>
          <a:stretch>
            <a:fillRect/>
          </a:stretch>
        </p:blipFill>
        <p:spPr>
          <a:xfrm>
            <a:off x="457200" y="914400"/>
            <a:ext cx="8229600" cy="4241442"/>
          </a:xfrm>
          <a:prstGeom prst="rect">
            <a:avLst/>
          </a:prstGeom>
        </p:spPr>
      </p:pic>
      <p:sp>
        <p:nvSpPr>
          <p:cNvPr id="3" name="TextBox 2"/>
          <p:cNvSpPr txBox="1"/>
          <p:nvPr/>
        </p:nvSpPr>
        <p:spPr>
          <a:xfrm>
            <a:off x="457200" y="274320"/>
            <a:ext cx="8229600" cy="457200"/>
          </a:xfrm>
          <a:prstGeom prst="rect">
            <a:avLst/>
          </a:prstGeom>
          <a:noFill/>
        </p:spPr>
        <p:txBody>
          <a:bodyPr wrap="none">
            <a:spAutoFit/>
          </a:bodyPr>
          <a:lstStyle/>
          <a:p>
            <a:pPr algn="ctr">
              <a:defRPr sz="2400" b="1"/>
            </a:pPr>
            <a:r>
              <a:t>Result: Live Impact Feed &amp; Audit Log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7.png"/>
          <p:cNvPicPr>
            <a:picLocks noChangeAspect="1"/>
          </p:cNvPicPr>
          <p:nvPr/>
        </p:nvPicPr>
        <p:blipFill>
          <a:blip r:embed="rId2"/>
          <a:stretch>
            <a:fillRect/>
          </a:stretch>
        </p:blipFill>
        <p:spPr>
          <a:xfrm>
            <a:off x="457200" y="914400"/>
            <a:ext cx="8229600" cy="4181410"/>
          </a:xfrm>
          <a:prstGeom prst="rect">
            <a:avLst/>
          </a:prstGeom>
        </p:spPr>
      </p:pic>
      <p:sp>
        <p:nvSpPr>
          <p:cNvPr id="3" name="TextBox 2"/>
          <p:cNvSpPr txBox="1"/>
          <p:nvPr/>
        </p:nvSpPr>
        <p:spPr>
          <a:xfrm>
            <a:off x="457200" y="274320"/>
            <a:ext cx="8229600" cy="457200"/>
          </a:xfrm>
          <a:prstGeom prst="rect">
            <a:avLst/>
          </a:prstGeom>
          <a:noFill/>
        </p:spPr>
        <p:txBody>
          <a:bodyPr wrap="none">
            <a:spAutoFit/>
          </a:bodyPr>
          <a:lstStyle/>
          <a:p>
            <a:pPr algn="ctr">
              <a:defRPr sz="2400" b="1"/>
            </a:pPr>
            <a:r>
              <a:t>Result: Premium Certificate Generation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lstStyle/>
          <a:p>
            <a:r>
              <a:t>Future: Mobile App (React Native), Integration with UN SDG trackers.</a:t>
            </a:r>
          </a:p>
          <a:p>
            <a:r>
              <a:t>Expansion: NFT-based charity collectibles for diamond donors.</a:t>
            </a:r>
          </a:p>
          <a:p>
            <a:r>
              <a:t>Conclusion: Humanexa is not just an app, it's a movement towards a trustable digital charity ecosystem.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 &amp; Feedback</a:t>
            </a:r>
          </a:p>
          <a:p/>
          <a:p>
            <a:r>
              <a:t>Contact: gokulm@example.com</a:t>
            </a:r>
          </a:p>
          <a:p>
            <a:r>
              <a:t>Humanexa Foundation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TotalTime>
  <Words>927</Words>
  <Application>Microsoft Office PowerPoint</Application>
  <PresentationFormat>On-screen Show (4:3)</PresentationFormat>
  <Paragraphs>74</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Tahoma</vt:lpstr>
      <vt:lpstr>Times New Roman</vt:lpstr>
      <vt:lpstr>Office Theme</vt:lpstr>
      <vt:lpstr>Excel Engineering College (Autonomous) Komarapalayam – 637 303 Department of Artificial Intelligence and Data Science</vt:lpstr>
      <vt:lpstr>Agenda</vt:lpstr>
      <vt:lpstr>ABSTRACT</vt:lpstr>
      <vt:lpstr>OBJECTIVES OF THE PROJECT</vt:lpstr>
      <vt:lpstr>PROBLEM STATEMENT </vt:lpstr>
      <vt:lpstr>Literature survey</vt:lpstr>
      <vt:lpstr>PROPOSED SYSTEM</vt:lpstr>
      <vt:lpstr>SOFTWARE USED</vt:lpstr>
      <vt:lpstr> FLOW CHART </vt:lpstr>
      <vt:lpstr>MODULES</vt:lpstr>
      <vt:lpstr>TESTING/PERFORMANCE EVALUATION/RESULTS/comparison chart (any one)</vt:lpstr>
      <vt:lpstr>CONCLUSION</vt:lpstr>
      <vt:lpstr>FUTURE ENHANCEMENTS</vt:lpstr>
      <vt:lpstr>REFERENCES</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Engineering College Department of Artificial Intelligence and Data Science</dc:title>
  <dc:creator>Student</dc:creator>
  <cp:lastModifiedBy>Raja S</cp:lastModifiedBy>
  <cp:revision>10</cp:revision>
  <dcterms:created xsi:type="dcterms:W3CDTF">2025-05-20T12:07:13Z</dcterms:created>
  <dcterms:modified xsi:type="dcterms:W3CDTF">2025-05-22T15:26:55Z</dcterms:modified>
</cp:coreProperties>
</file>